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9"/>
  </p:notesMasterIdLst>
  <p:sldIdLst>
    <p:sldId id="256" r:id="rId3"/>
    <p:sldId id="16140622" r:id="rId4"/>
    <p:sldId id="262" r:id="rId5"/>
    <p:sldId id="263" r:id="rId6"/>
    <p:sldId id="265" r:id="rId7"/>
    <p:sldId id="16140633" r:id="rId8"/>
    <p:sldId id="266" r:id="rId9"/>
    <p:sldId id="267" r:id="rId10"/>
    <p:sldId id="16140640" r:id="rId11"/>
    <p:sldId id="16140641" r:id="rId12"/>
    <p:sldId id="16140642" r:id="rId13"/>
    <p:sldId id="16140647" r:id="rId14"/>
    <p:sldId id="268" r:id="rId15"/>
    <p:sldId id="16140623" r:id="rId16"/>
    <p:sldId id="269"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1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151" autoAdjust="0"/>
    <p:restoredTop sz="94660"/>
  </p:normalViewPr>
  <p:slideViewPr>
    <p:cSldViewPr snapToGrid="0" showGuides="1">
      <p:cViewPr varScale="1">
        <p:scale>
          <a:sx n="73" d="100"/>
          <a:sy n="73" d="100"/>
        </p:scale>
        <p:origin x="989" y="67"/>
      </p:cViewPr>
      <p:guideLst>
        <p:guide orient="horz" pos="2160"/>
        <p:guide pos="381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5" Type="http://schemas.openxmlformats.org/officeDocument/2006/relationships/customXml" Target="../customXml/item3.xml"/><Relationship Id="rId24" Type="http://schemas.openxmlformats.org/officeDocument/2006/relationships/customXml" Target="../customXml/item2.xml"/><Relationship Id="rId23" Type="http://schemas.openxmlformats.org/officeDocument/2006/relationships/customXml" Target="../customXml/item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8" name="Date Placeholder 7"/>
          <p:cNvSpPr>
            <a:spLocks noGrp="1"/>
          </p:cNvSpPr>
          <p:nvPr>
            <p:ph type="dt" sz="half" idx="10"/>
          </p:nvPr>
        </p:nvSpPr>
        <p:spPr/>
        <p:txBody>
          <a:bodyPr/>
          <a:lstStyle/>
          <a:p>
            <a:fld id="{ED291B17-9318-49DB-B28B-6E5994AE9581}"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endParaRPr lang="en-US"/>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Date Placeholder 7"/>
          <p:cNvSpPr>
            <a:spLocks noGrp="1"/>
          </p:cNvSpPr>
          <p:nvPr>
            <p:ph type="dt" sz="half" idx="10"/>
          </p:nvPr>
        </p:nvSpPr>
        <p:spPr/>
        <p:txBody>
          <a:bodyPr/>
          <a:lstStyle/>
          <a:p>
            <a:fld id="{78DD82B9-B8EE-4375-B6FF-88FA6ABB15D9}" type="datetime1">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7" name="Date Placeholder 6"/>
          <p:cNvSpPr>
            <a:spLocks noGrp="1"/>
          </p:cNvSpPr>
          <p:nvPr>
            <p:ph type="dt" sz="half" idx="10"/>
          </p:nvPr>
        </p:nvSpPr>
        <p:spPr/>
        <p:txBody>
          <a:bodyPr/>
          <a:lstStyle/>
          <a:p>
            <a:fld id="{B2497495-0637-405E-AE64-5CC7506D51F5}" type="datetime1">
              <a:rPr lang="en-US" smtClean="0"/>
            </a:fld>
            <a:endParaRPr lang="en-US"/>
          </a:p>
        </p:txBody>
      </p:sp>
      <p:sp>
        <p:nvSpPr>
          <p:cNvPr id="9" name="Footer Placeholder 8"/>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endParaRPr lang="en-US"/>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BFFD690-9426-415D-8B65-26881E07B2D4}"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defRPr/>
            </a:pPr>
            <a:r>
              <a:rPr lang="en-US"/>
              <a:t>Click to edit Master text styles</a:t>
            </a:r>
            <a:endParaRPr lang="en-US"/>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04C4989A-474C-40DE-95B9-011C28B71673}" type="datetime1">
              <a:rPr lang="en-US" smtClean="0"/>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DB4ED54-5B5E-4A04-93D3-5772E3CE3818}" type="datetime1">
              <a:rPr lang="en-US" smtClean="0"/>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8" name="Date Placeholder 7"/>
          <p:cNvSpPr>
            <a:spLocks noGrp="1"/>
          </p:cNvSpPr>
          <p:nvPr>
            <p:ph type="dt" sz="half" idx="10"/>
          </p:nvPr>
        </p:nvSpPr>
        <p:spPr>
          <a:xfrm>
            <a:off x="7605951" y="6456916"/>
            <a:ext cx="2844799" cy="365125"/>
          </a:xfrm>
        </p:spPr>
        <p:txBody>
          <a:bodyPr/>
          <a:lstStyle/>
          <a:p>
            <a:fld id="{D82884F1-FFEA-405F-9602-3DCA865EDA4E}" type="datetime1">
              <a:rPr lang="en-US" smtClean="0"/>
            </a:fld>
            <a:endParaRPr lang="en-US"/>
          </a:p>
        </p:txBody>
      </p:sp>
      <p:sp>
        <p:nvSpPr>
          <p:cNvPr id="10" name="Footer Placeholder 9"/>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p:cNvSpPr>
            <a:spLocks noGrp="1"/>
          </p:cNvSpPr>
          <p:nvPr>
            <p:ph type="sldNum" sz="quarter" idx="12"/>
          </p:nvPr>
        </p:nvSpPr>
        <p:spPr>
          <a:xfrm>
            <a:off x="10558300" y="6456916"/>
            <a:ext cx="1052510" cy="365125"/>
          </a:xfrm>
        </p:spPr>
        <p:txBody>
          <a:bodyPr/>
          <a:lstStyle/>
          <a:p>
            <a:fld id="{3A98EE3D-8CD1-4C3F-BD1C-C98C9596463C}"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E18DB4A-8810-4A10-AD5C-D5E2C667F5B3}" type="datetime1">
              <a:rPr lang="en-US" smtClean="0"/>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2CED4963-E985-44C4-B8C4-FDD613B7C2F8}" type="datetime1">
              <a:rPr lang="en-US" smtClean="0"/>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8" name="Rectangle 7"/>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p:cNvSpPr>
            <a:spLocks noGrp="1"/>
          </p:cNvSpPr>
          <p:nvPr>
            <p:ph type="dt" sz="half" idx="10"/>
          </p:nvPr>
        </p:nvSpPr>
        <p:spPr/>
        <p:txBody>
          <a:bodyPr/>
          <a:lstStyle/>
          <a:p>
            <a:fld id="{ED291B17-9318-49DB-B28B-6E5994AE9581}" type="datetime1">
              <a:rPr lang="en-US" smtClean="0"/>
            </a:fld>
            <a:endParaRPr lang="en-US"/>
          </a:p>
        </p:txBody>
      </p:sp>
      <p:sp>
        <p:nvSpPr>
          <p:cNvPr id="12" name="Footer Placeholder 11"/>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ED291B17-9318-49DB-B28B-6E5994AE9581}" type="datetime1">
              <a:rPr lang="en-US" smtClean="0"/>
            </a:fld>
            <a:endParaRPr lang="en-US"/>
          </a:p>
        </p:txBody>
      </p:sp>
      <p:sp>
        <p:nvSpPr>
          <p:cNvPr id="5" name="Footer Placeholder 4"/>
          <p:cNvSpPr>
            <a:spLocks noGrp="1"/>
          </p:cNvSpPr>
          <p:nvPr>
            <p:ph type="ftr" sz="quarter" idx="11"/>
          </p:nvPr>
        </p:nvSpPr>
        <p:spPr>
          <a:xfrm>
            <a:off x="4038600" y="6356350"/>
            <a:ext cx="4114800" cy="365125"/>
          </a:xfr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endParaRPr lang="en-US"/>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p:cNvPicPr>
            <a:picLocks noChangeAspect="1"/>
          </p:cNvPicPr>
          <p:nvPr userDrawn="1"/>
        </p:nvPicPr>
        <p:blipFill>
          <a:blip r:embed="rId13"/>
          <a:stretch>
            <a:fillRect/>
          </a:stretch>
        </p:blipFill>
        <p:spPr>
          <a:xfrm>
            <a:off x="10485003" y="6437910"/>
            <a:ext cx="1125805" cy="36512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70" indent="-30607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29920" indent="-30607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899795" indent="-26987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60"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105" indent="-234315"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89992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27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49999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799715"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3.png"/><Relationship Id="rId2" Type="http://schemas.openxmlformats.org/officeDocument/2006/relationships/tags" Target="../tags/tag1.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5.png"/><Relationship Id="rId2" Type="http://schemas.openxmlformats.org/officeDocument/2006/relationships/tags" Target="../tags/tag2.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tags" Target="../tags/tag3.xml"/><Relationship Id="rId1" Type="http://schemas.openxmlformats.org/officeDocument/2006/relationships/image" Target="../media/image6.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9.png"/><Relationship Id="rId2" Type="http://schemas.openxmlformats.org/officeDocument/2006/relationships/tags" Target="../tags/tag4.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1.png"/><Relationship Id="rId2" Type="http://schemas.openxmlformats.org/officeDocument/2006/relationships/tags" Target="../tags/tag5.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4155" y="2090420"/>
            <a:ext cx="9210675" cy="709295"/>
          </a:xfrm>
        </p:spPr>
        <p:txBody>
          <a:bodyPr>
            <a:normAutofit/>
          </a:bodyPr>
          <a:lstStyle/>
          <a:p>
            <a:pPr algn="ctr"/>
            <a:r>
              <a:rPr lang="en-US" b="1">
                <a:solidFill>
                  <a:schemeClr val="accent1"/>
                </a:solidFill>
                <a:latin typeface="Arial" panose="020B0604020202020204" pitchFamily="34" charset="0"/>
                <a:cs typeface="Arial" panose="020B0604020202020204" pitchFamily="34" charset="0"/>
              </a:rPr>
              <a:t>sentiment analysis </a:t>
            </a:r>
            <a:endParaRPr lang="en-US" b="1">
              <a:solidFill>
                <a:schemeClr val="accent1"/>
              </a:solidFill>
              <a:latin typeface="Arial" panose="020B0604020202020204" pitchFamily="34" charset="0"/>
              <a:cs typeface="Arial" panose="020B0604020202020204" pitchFamily="34" charset="0"/>
            </a:endParaRP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panose="020B0604020202020204"/>
                <a:cs typeface="Arial" panose="020B0604020202020204"/>
              </a:rPr>
              <a:t>CAPSTONE PROJECT</a:t>
            </a:r>
            <a:endParaRPr lang="en-US" sz="3200" b="1">
              <a:solidFill>
                <a:schemeClr val="accent1">
                  <a:lumMod val="75000"/>
                </a:schemeClr>
              </a:solidFill>
              <a:latin typeface="Arial" panose="020B0604020202020204"/>
              <a:cs typeface="Arial" panose="020B0604020202020204"/>
            </a:endParaRPr>
          </a:p>
        </p:txBody>
      </p:sp>
      <p:sp>
        <p:nvSpPr>
          <p:cNvPr id="4" name="TextBox 3"/>
          <p:cNvSpPr txBox="1"/>
          <p:nvPr/>
        </p:nvSpPr>
        <p:spPr>
          <a:xfrm>
            <a:off x="3117529" y="4586365"/>
            <a:ext cx="7980183" cy="1014730"/>
          </a:xfrm>
          <a:prstGeom prst="rect">
            <a:avLst/>
          </a:prstGeom>
          <a:noFill/>
        </p:spPr>
        <p:txBody>
          <a:bodyPr wrap="square" lIns="91440" tIns="45720" rIns="91440" bIns="45720" rtlCol="0" anchor="t">
            <a:spAutoFit/>
          </a:bodyPr>
          <a:lstStyle/>
          <a:p>
            <a:r>
              <a:rPr lang="en-US" sz="2000" b="1">
                <a:solidFill>
                  <a:schemeClr val="accent1">
                    <a:lumMod val="75000"/>
                  </a:schemeClr>
                </a:solidFill>
                <a:latin typeface="Arial" panose="020B0604020202020204" pitchFamily="34" charset="0"/>
                <a:cs typeface="Arial" panose="020B0604020202020204" pitchFamily="34" charset="0"/>
              </a:rPr>
              <a:t>Presented By:</a:t>
            </a:r>
            <a:endParaRPr lang="en-US" sz="2000" b="1">
              <a:solidFill>
                <a:schemeClr val="accent1">
                  <a:lumMod val="75000"/>
                </a:schemeClr>
              </a:solidFill>
              <a:latin typeface="Arial" panose="020B0604020202020204" pitchFamily="34" charset="0"/>
              <a:cs typeface="Arial" panose="020B0604020202020204" pitchFamily="34" charset="0"/>
            </a:endParaRPr>
          </a:p>
          <a:p>
            <a:r>
              <a:rPr lang="en-US" sz="2000" b="1">
                <a:solidFill>
                  <a:schemeClr val="accent1">
                    <a:lumMod val="75000"/>
                  </a:schemeClr>
                </a:solidFill>
                <a:latin typeface="Arial" panose="020B0604020202020204"/>
                <a:cs typeface="Arial" panose="020B0604020202020204"/>
              </a:rPr>
              <a:t>1. MALLADI NARENDRA-NRI Institute Of Technology-Information Technology</a:t>
            </a:r>
            <a:endParaRPr lang="en-US" sz="2000" b="1">
              <a:solidFill>
                <a:schemeClr val="accent1">
                  <a:lumMod val="75000"/>
                </a:schemeClr>
              </a:solidFill>
              <a:latin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endParaRPr lang="en-US" b="1">
              <a:solidFill>
                <a:srgbClr val="00206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a:latin typeface="Arial" panose="020B0604020202020204"/>
                <a:ea typeface="+mn-lt"/>
                <a:cs typeface="Arial" panose="020B0604020202020204"/>
              </a:rPr>
              <a:t>  </a:t>
            </a:r>
            <a:endParaRPr lang="en-US">
              <a:latin typeface="Arial" panose="020B0604020202020204"/>
              <a:cs typeface="Arial" panose="020B0604020202020204"/>
            </a:endParaRPr>
          </a:p>
          <a:p>
            <a:r>
              <a:rPr lang="en-US" sz="2000" b="1">
                <a:latin typeface="Arial" panose="020B0604020202020204"/>
                <a:ea typeface="+mn-lt"/>
                <a:cs typeface="Arial" panose="020B0604020202020204"/>
              </a:rPr>
              <a:t>Problem Statement </a:t>
            </a:r>
            <a:endParaRPr lang="en-US" sz="2000" b="1">
              <a:latin typeface="Arial" panose="020B0604020202020204"/>
              <a:ea typeface="+mn-lt"/>
              <a:cs typeface="Arial" panose="020B0604020202020204"/>
            </a:endParaRPr>
          </a:p>
          <a:p>
            <a:r>
              <a:rPr lang="en-US" sz="2000" b="1">
                <a:latin typeface="Arial" panose="020B0604020202020204"/>
                <a:ea typeface="+mn-lt"/>
                <a:cs typeface="Arial" panose="020B0604020202020204"/>
              </a:rPr>
              <a:t>Proposed System/Solution</a:t>
            </a:r>
            <a:endParaRPr lang="en-US">
              <a:latin typeface="Arial" panose="020B0604020202020204"/>
              <a:cs typeface="Arial" panose="020B0604020202020204"/>
            </a:endParaRPr>
          </a:p>
          <a:p>
            <a:r>
              <a:rPr lang="en-US" sz="2000" b="1">
                <a:latin typeface="Arial" panose="020B0604020202020204"/>
                <a:ea typeface="+mn-lt"/>
                <a:cs typeface="Calibri" panose="020F0502020204030204"/>
              </a:rPr>
              <a:t>System </a:t>
            </a:r>
            <a:r>
              <a:rPr lang="en-US" sz="2000" b="1">
                <a:latin typeface="Arial" panose="020B0604020202020204"/>
                <a:ea typeface="+mn-lt"/>
                <a:cs typeface="+mn-lt"/>
              </a:rPr>
              <a:t>Development Approach</a:t>
            </a:r>
            <a:endParaRPr lang="en-US">
              <a:latin typeface="Arial" panose="020B0604020202020204"/>
              <a:ea typeface="+mn-lt"/>
              <a:cs typeface="+mn-lt"/>
            </a:endParaRPr>
          </a:p>
          <a:p>
            <a:r>
              <a:rPr lang="en-US" sz="2000" b="1">
                <a:latin typeface="Arial" panose="020B0604020202020204"/>
                <a:ea typeface="+mn-lt"/>
                <a:cs typeface="+mn-lt"/>
              </a:rPr>
              <a:t>Algorithm &amp; Deployment  </a:t>
            </a:r>
            <a:endParaRPr lang="en-US">
              <a:latin typeface="Arial" panose="020B0604020202020204"/>
              <a:cs typeface="Calibri" panose="020F0502020204030204"/>
            </a:endParaRPr>
          </a:p>
          <a:p>
            <a:r>
              <a:rPr lang="en-US" sz="2000" b="1">
                <a:latin typeface="Arial" panose="020B0604020202020204"/>
                <a:ea typeface="+mn-lt"/>
                <a:cs typeface="Arial" panose="020B0604020202020204"/>
              </a:rPr>
              <a:t>Result</a:t>
            </a:r>
            <a:endParaRPr lang="en-US" sz="2000" b="1">
              <a:latin typeface="Arial" panose="020B0604020202020204"/>
              <a:ea typeface="+mn-lt"/>
              <a:cs typeface="Arial" panose="020B0604020202020204"/>
            </a:endParaRPr>
          </a:p>
          <a:p>
            <a:r>
              <a:rPr lang="en-US" sz="2000" b="1">
                <a:latin typeface="Arial" panose="020B0604020202020204"/>
                <a:ea typeface="+mn-lt"/>
                <a:cs typeface="Arial" panose="020B0604020202020204"/>
              </a:rPr>
              <a:t>Conclusion</a:t>
            </a:r>
            <a:endParaRPr lang="en-US">
              <a:latin typeface="Arial" panose="020B0604020202020204"/>
              <a:cs typeface="Arial" panose="020B0604020202020204"/>
            </a:endParaRPr>
          </a:p>
          <a:p>
            <a:r>
              <a:rPr lang="en-US" sz="2000" b="1">
                <a:latin typeface="Arial" panose="020B0604020202020204"/>
                <a:ea typeface="+mn-lt"/>
                <a:cs typeface="Arial" panose="020B0604020202020204"/>
              </a:rPr>
              <a:t>Future Scope</a:t>
            </a:r>
            <a:endParaRPr lang="en-US" sz="2000" b="1">
              <a:latin typeface="Arial" panose="020B0604020202020204"/>
              <a:ea typeface="+mn-lt"/>
              <a:cs typeface="Arial" panose="020B0604020202020204"/>
            </a:endParaRPr>
          </a:p>
          <a:p>
            <a:r>
              <a:rPr lang="en-US" sz="2000" b="1">
                <a:latin typeface="Arial" panose="020B0604020202020204"/>
                <a:ea typeface="+mn-lt"/>
                <a:cs typeface="Arial" panose="020B0604020202020204"/>
              </a:rPr>
              <a:t>References</a:t>
            </a:r>
            <a:endParaRPr lang="en-US">
              <a:latin typeface="Arial" panose="020B0604020202020204"/>
              <a:cs typeface="Arial" panose="020B0604020202020204"/>
            </a:endParaRPr>
          </a:p>
          <a:p>
            <a:endParaRPr lang="en-US">
              <a:latin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p:cNvSpPr>
            <a:spLocks noGrp="1"/>
          </p:cNvSpPr>
          <p:nvPr>
            <p:ph idx="1"/>
          </p:nvPr>
        </p:nvSpPr>
        <p:spPr>
          <a:xfrm>
            <a:off x="581025" y="1487805"/>
            <a:ext cx="11029315" cy="3381375"/>
          </a:xfrm>
        </p:spPr>
        <p:txBody>
          <a:bodyPr/>
          <a:lstStyle/>
          <a:p>
            <a:pPr marL="0" indent="0">
              <a:buNone/>
            </a:pPr>
            <a:r>
              <a:rPr lang="en-IN" sz="3600">
                <a:solidFill>
                  <a:srgbClr val="0F0F0F"/>
                </a:solidFill>
                <a:ea typeface="+mn-lt"/>
                <a:cs typeface="+mn-lt"/>
              </a:rPr>
              <a:t>Develop a sentiment analysis model to classify reviews as positive or negative of a Restaurant</a:t>
            </a:r>
            <a:r>
              <a:rPr lang="en-US" altLang="en-IN" sz="3600">
                <a:solidFill>
                  <a:srgbClr val="0F0F0F"/>
                </a:solidFill>
                <a:ea typeface="+mn-lt"/>
                <a:cs typeface="+mn-lt"/>
              </a:rPr>
              <a:t>.</a:t>
            </a:r>
            <a:endParaRPr lang="en-US" altLang="en-IN" sz="3600">
              <a:solidFill>
                <a:srgbClr val="0F0F0F"/>
              </a:solidFill>
              <a:ea typeface="+mn-lt"/>
              <a:cs typeface="+mn-l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5462" y="585951"/>
            <a:ext cx="11029616" cy="530296"/>
          </a:xfrm>
        </p:spPr>
        <p:txBody>
          <a:bodyPr>
            <a:normAutofit fontScale="90000"/>
          </a:bodyPr>
          <a:lstStyle/>
          <a:p>
            <a:r>
              <a:rPr lang="en-US" sz="3555" b="1">
                <a:solidFill>
                  <a:schemeClr val="accent1"/>
                </a:solidFill>
                <a:latin typeface="Arial" panose="020B0604020202020204" pitchFamily="34" charset="0"/>
                <a:cs typeface="Arial" panose="020B0604020202020204" pitchFamily="34" charset="0"/>
              </a:rPr>
              <a:t>Proposed Solution</a:t>
            </a:r>
            <a:endParaRPr lang="en-US" sz="3555" b="1">
              <a:solidFill>
                <a:schemeClr val="accent1"/>
              </a:solidFill>
              <a:latin typeface="Arial" panose="020B0604020202020204" pitchFamily="34" charset="0"/>
              <a:cs typeface="Arial" panose="020B0604020202020204" pitchFamily="34" charset="0"/>
            </a:endParaRPr>
          </a:p>
        </p:txBody>
      </p:sp>
      <p:sp>
        <p:nvSpPr>
          <p:cNvPr id="2" name="Content Placeholder 1"/>
          <p:cNvSpPr>
            <a:spLocks noGrp="1"/>
          </p:cNvSpPr>
          <p:nvPr>
            <p:ph idx="1"/>
          </p:nvPr>
        </p:nvSpPr>
        <p:spPr>
          <a:xfrm>
            <a:off x="581025" y="1232535"/>
            <a:ext cx="11474450" cy="4908550"/>
          </a:xfrm>
        </p:spPr>
        <p:txBody>
          <a:bodyPr vert="horz" lIns="91440" tIns="45720" rIns="91440" bIns="45720" rtlCol="0" anchor="ctr">
            <a:noAutofit/>
          </a:bodyPr>
          <a:lstStyle/>
          <a:p>
            <a:pPr marL="305435" indent="-305435"/>
            <a:endParaRPr lang="en-IN" sz="1200" b="1">
              <a:latin typeface="Calibri" panose="020F0502020204030204"/>
              <a:cs typeface="Calibri" panose="020F0502020204030204"/>
            </a:endParaRPr>
          </a:p>
          <a:p>
            <a:pPr marL="0" indent="0">
              <a:buNone/>
            </a:pPr>
            <a:r>
              <a:rPr lang="en-IN" sz="1200">
                <a:latin typeface="Calibri" panose="020F0502020204030204"/>
                <a:ea typeface="+mn-lt"/>
                <a:cs typeface="+mn-lt"/>
              </a:rPr>
              <a:t>The proposed system aims to address the challenge of Develop a sentiment analysis model to classify reviews as positive or negative of a Restaurant. This involves leveraging  machine learning techniques to forecast demand patterns accurately. The solution will consist of the following components:</a:t>
            </a:r>
            <a:endParaRPr lang="en-IN" sz="1200">
              <a:latin typeface="Calibri" panose="020F0502020204030204"/>
              <a:cs typeface="Calibri" panose="020F0502020204030204"/>
            </a:endParaRPr>
          </a:p>
          <a:p>
            <a:pPr marL="305435" indent="-305435"/>
            <a:r>
              <a:rPr lang="en-IN" sz="1200" b="1">
                <a:latin typeface="Calibri" panose="020F0502020204030204"/>
                <a:ea typeface="+mn-lt"/>
                <a:cs typeface="+mn-lt"/>
              </a:rPr>
              <a:t>Data Collection:</a:t>
            </a:r>
            <a:endParaRPr lang="en-IN" sz="1200" b="1">
              <a:latin typeface="Calibri" panose="020F0502020204030204"/>
              <a:cs typeface="Calibri" panose="020F0502020204030204"/>
            </a:endParaRPr>
          </a:p>
          <a:p>
            <a:pPr marL="629920" lvl="1" indent="-305435"/>
            <a:r>
              <a:rPr sz="1200">
                <a:latin typeface="Calibri" panose="020F0502020204030204"/>
                <a:ea typeface="+mn-lt"/>
                <a:cs typeface="+mn-lt"/>
              </a:rPr>
              <a:t>Load the Dataset: Load the CSV file (reviews.csv) containing two columns: "Review" (text data) and "Liked" (binary labels).</a:t>
            </a:r>
            <a:endParaRPr sz="1200">
              <a:latin typeface="Calibri" panose="020F0502020204030204"/>
              <a:ea typeface="+mn-lt"/>
              <a:cs typeface="+mn-lt"/>
            </a:endParaRPr>
          </a:p>
          <a:p>
            <a:pPr marL="629920" lvl="1" indent="-305435"/>
            <a:r>
              <a:rPr sz="1200">
                <a:latin typeface="Calibri" panose="020F0502020204030204"/>
                <a:ea typeface="+mn-lt"/>
                <a:cs typeface="+mn-lt"/>
              </a:rPr>
              <a:t>Handle Missing Data: Check for any missing values in both columns and handle them appropriately (remove rows with missing values or impute if necessary)</a:t>
            </a:r>
            <a:r>
              <a:rPr lang="en-US" altLang="en-IN" sz="1200">
                <a:latin typeface="Calibri" panose="020F0502020204030204"/>
                <a:ea typeface="+mn-lt"/>
                <a:cs typeface="+mn-lt"/>
              </a:rPr>
              <a:t>.</a:t>
            </a:r>
            <a:endParaRPr lang="en-IN" sz="1200">
              <a:latin typeface="Calibri" panose="020F0502020204030204"/>
              <a:ea typeface="+mn-lt"/>
              <a:cs typeface="+mn-lt"/>
            </a:endParaRPr>
          </a:p>
          <a:p>
            <a:pPr marL="305435" indent="-305435"/>
            <a:r>
              <a:rPr lang="en-IN" sz="1200" b="1">
                <a:latin typeface="Calibri" panose="020F0502020204030204"/>
                <a:ea typeface="+mn-lt"/>
                <a:cs typeface="+mn-lt"/>
              </a:rPr>
              <a:t>Data Preprocessing:</a:t>
            </a:r>
            <a:endParaRPr lang="en-IN" sz="1200" b="1">
              <a:latin typeface="Calibri" panose="020F0502020204030204"/>
              <a:cs typeface="Calibri" panose="020F0502020204030204"/>
            </a:endParaRPr>
          </a:p>
          <a:p>
            <a:pPr marL="629920" lvl="1" indent="-305435"/>
            <a:r>
              <a:rPr sz="1200">
                <a:latin typeface="Calibri" panose="020F0502020204030204"/>
                <a:ea typeface="+mn-lt"/>
                <a:cs typeface="+mn-lt"/>
              </a:rPr>
              <a:t>Tokenization: Split each review text into individual words or tokens.</a:t>
            </a:r>
            <a:endParaRPr sz="1200">
              <a:latin typeface="Calibri" panose="020F0502020204030204"/>
              <a:ea typeface="+mn-lt"/>
              <a:cs typeface="+mn-lt"/>
            </a:endParaRPr>
          </a:p>
          <a:p>
            <a:pPr marL="629920" lvl="1" indent="-305435"/>
            <a:r>
              <a:rPr sz="1200">
                <a:latin typeface="Calibri" panose="020F0502020204030204"/>
                <a:ea typeface="+mn-lt"/>
                <a:cs typeface="+mn-lt"/>
              </a:rPr>
              <a:t>Lowercasing: Convert all text to lowercase to ensure consistency (e.g., 'Good' and 'good' should be treated the same).</a:t>
            </a:r>
            <a:endParaRPr sz="1200">
              <a:latin typeface="Calibri" panose="020F0502020204030204"/>
              <a:ea typeface="+mn-lt"/>
              <a:cs typeface="+mn-lt"/>
            </a:endParaRPr>
          </a:p>
          <a:p>
            <a:pPr marL="629920" lvl="1" indent="-305435"/>
            <a:r>
              <a:rPr sz="1200">
                <a:latin typeface="Calibri" panose="020F0502020204030204"/>
                <a:ea typeface="+mn-lt"/>
                <a:cs typeface="+mn-lt"/>
              </a:rPr>
              <a:t>Remove Punctuation and Special Characters: Strip out non-alphabetic characters since they usually don't contribute to sentiment analysis.</a:t>
            </a:r>
            <a:endParaRPr sz="1200">
              <a:latin typeface="Calibri" panose="020F0502020204030204"/>
              <a:ea typeface="+mn-lt"/>
              <a:cs typeface="+mn-lt"/>
            </a:endParaRPr>
          </a:p>
          <a:p>
            <a:pPr marL="629920" lvl="1" indent="-305435"/>
            <a:r>
              <a:rPr sz="1200">
                <a:latin typeface="Calibri" panose="020F0502020204030204"/>
                <a:ea typeface="+mn-lt"/>
                <a:cs typeface="+mn-lt"/>
              </a:rPr>
              <a:t>Stopwords Removal: Remove common stopwords (like 'and', 'the', 'is') that do not carry significant sentiment.</a:t>
            </a:r>
            <a:endParaRPr sz="1200">
              <a:latin typeface="Calibri" panose="020F0502020204030204"/>
              <a:ea typeface="+mn-lt"/>
              <a:cs typeface="+mn-lt"/>
            </a:endParaRPr>
          </a:p>
          <a:p>
            <a:pPr marL="629920" lvl="1" indent="-305435"/>
            <a:r>
              <a:rPr sz="1200">
                <a:latin typeface="Calibri" panose="020F0502020204030204"/>
                <a:ea typeface="+mn-lt"/>
                <a:cs typeface="+mn-lt"/>
              </a:rPr>
              <a:t>Stemming or Lemmatization: Reduce words to their root form to normalize the text data (e.g., converting 'running', 'ran', 'runs' to 'run')</a:t>
            </a:r>
            <a:r>
              <a:rPr lang="en-IN" sz="1200">
                <a:latin typeface="Calibri" panose="020F0502020204030204"/>
                <a:ea typeface="+mn-lt"/>
                <a:cs typeface="+mn-lt"/>
              </a:rPr>
              <a:t>.</a:t>
            </a:r>
            <a:endParaRPr lang="en-IN" sz="1200">
              <a:latin typeface="Calibri" panose="020F0502020204030204"/>
              <a:ea typeface="+mn-lt"/>
              <a:cs typeface="+mn-lt"/>
            </a:endParaRPr>
          </a:p>
          <a:p>
            <a:pPr marL="305435" indent="-305435"/>
            <a:r>
              <a:rPr lang="en-IN" sz="1200" b="1">
                <a:latin typeface="Calibri" panose="020F0502020204030204"/>
                <a:ea typeface="+mn-lt"/>
                <a:cs typeface="+mn-lt"/>
              </a:rPr>
              <a:t>Machine Learning Algorithm:</a:t>
            </a:r>
            <a:endParaRPr lang="en-IN" sz="1200" b="1">
              <a:latin typeface="Calibri" panose="020F0502020204030204"/>
              <a:cs typeface="Calibri" panose="020F0502020204030204"/>
            </a:endParaRPr>
          </a:p>
          <a:p>
            <a:pPr marL="629920" lvl="1" indent="-305435"/>
            <a:r>
              <a:rPr lang="en-IN" sz="1200">
                <a:latin typeface="Calibri" panose="020F0502020204030204"/>
                <a:ea typeface="+mn-lt"/>
                <a:cs typeface="+mn-lt"/>
              </a:rPr>
              <a:t>Implement a machine learning algorithm, such as Naive Bayes Classifier</a:t>
            </a:r>
            <a:r>
              <a:rPr lang="en-US" altLang="en-IN" sz="1200">
                <a:latin typeface="Calibri" panose="020F0502020204030204"/>
                <a:ea typeface="+mn-lt"/>
                <a:cs typeface="+mn-lt"/>
              </a:rPr>
              <a:t> is used to Fast to train and predict, works well with high-dimensional data like text.</a:t>
            </a:r>
            <a:endParaRPr lang="en-IN" sz="1200">
              <a:latin typeface="Calibri" panose="020F0502020204030204"/>
              <a:cs typeface="Calibri" panose="020F0502020204030204"/>
            </a:endParaRPr>
          </a:p>
          <a:p>
            <a:pPr marL="305435" indent="-305435"/>
            <a:r>
              <a:rPr lang="en-IN" sz="1200" b="1">
                <a:latin typeface="Calibri" panose="020F0502020204030204"/>
                <a:ea typeface="+mn-lt"/>
                <a:cs typeface="+mn-lt"/>
              </a:rPr>
              <a:t>Deployment:</a:t>
            </a:r>
            <a:endParaRPr lang="en-IN" sz="1200" b="1">
              <a:latin typeface="Calibri" panose="020F0502020204030204"/>
              <a:cs typeface="Calibri" panose="020F0502020204030204"/>
            </a:endParaRPr>
          </a:p>
          <a:p>
            <a:pPr marL="629920" lvl="1" indent="-305435"/>
            <a:r>
              <a:rPr lang="en-US" altLang="en-IN" sz="1200" b="1">
                <a:latin typeface="Calibri" panose="020F0502020204030204"/>
                <a:ea typeface="+mn-lt"/>
                <a:cs typeface="+mn-lt"/>
              </a:rPr>
              <a:t>D</a:t>
            </a:r>
            <a:r>
              <a:rPr lang="en-IN" sz="1200">
                <a:latin typeface="Calibri" panose="020F0502020204030204"/>
                <a:ea typeface="+mn-lt"/>
                <a:cs typeface="+mn-lt"/>
              </a:rPr>
              <a:t>eploy </a:t>
            </a:r>
            <a:r>
              <a:rPr lang="en-US" altLang="en-IN" sz="1200">
                <a:latin typeface="Calibri" panose="020F0502020204030204"/>
                <a:ea typeface="+mn-lt"/>
                <a:cs typeface="+mn-lt"/>
              </a:rPr>
              <a:t>the model in </a:t>
            </a:r>
            <a:r>
              <a:rPr lang="en-IN" sz="1200">
                <a:latin typeface="Calibri" panose="020F0502020204030204"/>
                <a:ea typeface="+mn-lt"/>
                <a:cs typeface="+mn-lt"/>
              </a:rPr>
              <a:t>to classify new restaurant reviews into positive or negative sentiments.</a:t>
            </a:r>
            <a:endParaRPr lang="en-IN" sz="1200">
              <a:latin typeface="Calibri" panose="020F0502020204030204"/>
              <a:ea typeface="+mn-lt"/>
              <a:cs typeface="+mn-lt"/>
            </a:endParaRPr>
          </a:p>
          <a:p>
            <a:pPr marL="629920" lvl="1" indent="-305435"/>
            <a:r>
              <a:rPr lang="en-IN" sz="1200">
                <a:latin typeface="Calibri" panose="020F0502020204030204"/>
                <a:ea typeface="+mn-lt"/>
                <a:cs typeface="+mn-lt"/>
              </a:rPr>
              <a:t>Develop a RESTful API using frameworks like Flask or FastAPI to expose the sentiment analysis model for inference.</a:t>
            </a:r>
            <a:endParaRPr lang="en-IN" sz="1200">
              <a:latin typeface="Calibri" panose="020F0502020204030204"/>
              <a:ea typeface="+mn-lt"/>
              <a:cs typeface="+mn-lt"/>
            </a:endParaRPr>
          </a:p>
          <a:p>
            <a:pPr marL="305435" indent="-305435"/>
            <a:r>
              <a:rPr lang="en-IN" sz="1200" b="1">
                <a:latin typeface="Calibri" panose="020F0502020204030204"/>
                <a:ea typeface="+mn-lt"/>
                <a:cs typeface="+mn-lt"/>
              </a:rPr>
              <a:t>Evaluation:</a:t>
            </a:r>
            <a:endParaRPr lang="en-IN" sz="1200" b="1">
              <a:latin typeface="Calibri" panose="020F0502020204030204"/>
              <a:cs typeface="Calibri" panose="020F0502020204030204"/>
            </a:endParaRPr>
          </a:p>
          <a:p>
            <a:pPr marL="629920" lvl="1" indent="-305435"/>
            <a:r>
              <a:rPr lang="en-IN" sz="1200">
                <a:latin typeface="Calibri" panose="020F0502020204030204"/>
                <a:ea typeface="+mn-lt"/>
                <a:cs typeface="+mn-lt"/>
              </a:rPr>
              <a:t>Evaluate the trained model's performance on the test set using metrics such as accuracy, precision, recall, and F1-score.</a:t>
            </a:r>
            <a:endParaRPr lang="en-IN" sz="1200">
              <a:latin typeface="Calibri" panose="020F0502020204030204"/>
              <a:ea typeface="+mn-lt"/>
              <a:cs typeface="+mn-lt"/>
            </a:endParaRPr>
          </a:p>
          <a:p>
            <a:pPr marL="629920" lvl="1" indent="-305435"/>
            <a:r>
              <a:rPr lang="en-IN" sz="1200">
                <a:latin typeface="Calibri" panose="020F0502020204030204"/>
                <a:ea typeface="+mn-lt"/>
                <a:cs typeface="+mn-lt"/>
              </a:rPr>
              <a:t>Adjust parameters or try different models to improve performance if necessary.</a:t>
            </a:r>
            <a:endParaRPr lang="en-IN" sz="1200">
              <a:latin typeface="Calibri" panose="020F0502020204030204"/>
              <a:ea typeface="+mn-lt"/>
              <a:cs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panose="020B0604020202020204"/>
                <a:ea typeface="+mj-lt"/>
                <a:cs typeface="Arial" panose="020B0604020202020204"/>
              </a:rPr>
              <a:t>System  Approach</a:t>
            </a:r>
            <a:endParaRPr lang="en-US" sz="4400">
              <a:solidFill>
                <a:schemeClr val="accent1"/>
              </a:solidFill>
              <a:latin typeface="Calibri Light" panose="020F0302020204030204"/>
              <a:cs typeface="Calibri Light" panose="020F0302020204030204"/>
            </a:endParaRPr>
          </a:p>
        </p:txBody>
      </p:sp>
      <p:sp>
        <p:nvSpPr>
          <p:cNvPr id="2" name="Content Placeholder 1"/>
          <p:cNvSpPr>
            <a:spLocks noGrp="1"/>
          </p:cNvSpPr>
          <p:nvPr>
            <p:ph idx="1"/>
          </p:nvPr>
        </p:nvSpPr>
        <p:spPr/>
        <p:txBody>
          <a:bodyPr>
            <a:normAutofit lnSpcReduction="20000"/>
          </a:bodyPr>
          <a:lstStyle/>
          <a:p>
            <a:pPr marL="0" indent="0">
              <a:buNone/>
            </a:pPr>
            <a:r>
              <a:rPr lang="en-IN" sz="1800">
                <a:solidFill>
                  <a:srgbClr val="0F0F0F"/>
                </a:solidFill>
                <a:ea typeface="+mn-lt"/>
                <a:cs typeface="+mn-lt"/>
              </a:rPr>
              <a:t>To perform </a:t>
            </a:r>
            <a:r>
              <a:rPr lang="en-US" altLang="en-IN" sz="1800">
                <a:solidFill>
                  <a:srgbClr val="0F0F0F"/>
                </a:solidFill>
                <a:ea typeface="+mn-lt"/>
                <a:cs typeface="+mn-lt"/>
              </a:rPr>
              <a:t>Sentiment analysis</a:t>
            </a:r>
            <a:r>
              <a:rPr lang="en-IN" sz="1800">
                <a:solidFill>
                  <a:srgbClr val="0F0F0F"/>
                </a:solidFill>
                <a:ea typeface="+mn-lt"/>
                <a:cs typeface="+mn-lt"/>
              </a:rPr>
              <a:t> on the dataset '</a:t>
            </a:r>
            <a:r>
              <a:rPr lang="en-US" altLang="en-IN" sz="1800">
                <a:solidFill>
                  <a:srgbClr val="0F0F0F"/>
                </a:solidFill>
                <a:ea typeface="+mn-lt"/>
                <a:cs typeface="+mn-lt"/>
              </a:rPr>
              <a:t>Reviews</a:t>
            </a:r>
            <a:r>
              <a:rPr lang="en-IN" sz="1800">
                <a:solidFill>
                  <a:srgbClr val="0F0F0F"/>
                </a:solidFill>
                <a:ea typeface="+mn-lt"/>
                <a:cs typeface="+mn-lt"/>
              </a:rPr>
              <a:t>.csv' and analyze customer behavior,</a:t>
            </a:r>
            <a:endParaRPr lang="en-IN" sz="1800">
              <a:solidFill>
                <a:srgbClr val="0F0F0F"/>
              </a:solidFill>
              <a:ea typeface="+mn-lt"/>
              <a:cs typeface="+mn-lt"/>
            </a:endParaRPr>
          </a:p>
          <a:p>
            <a:pPr marL="0" indent="0">
              <a:buNone/>
            </a:pPr>
            <a:r>
              <a:rPr lang="en-IN" sz="1800">
                <a:solidFill>
                  <a:srgbClr val="0F0F0F"/>
                </a:solidFill>
                <a:ea typeface="+mn-lt"/>
                <a:cs typeface="+mn-lt"/>
              </a:rPr>
              <a:t>preferences, and satisfaction levels, you will need to set up a Python environment with the necessary libraries installed. Here are the system requirements and library requirements:</a:t>
            </a:r>
            <a:endParaRPr lang="en-IN" sz="1800">
              <a:solidFill>
                <a:srgbClr val="0F0F0F"/>
              </a:solidFill>
              <a:ea typeface="+mn-lt"/>
              <a:cs typeface="+mn-lt"/>
            </a:endParaRPr>
          </a:p>
          <a:p>
            <a:pPr marL="0" indent="0">
              <a:buNone/>
            </a:pPr>
            <a:r>
              <a:rPr lang="en-IN" sz="1800" b="1">
                <a:solidFill>
                  <a:srgbClr val="0F0F0F"/>
                </a:solidFill>
                <a:ea typeface="+mn-lt"/>
                <a:cs typeface="+mn-lt"/>
                <a:sym typeface="+mn-ea"/>
              </a:rPr>
              <a:t>system requirements</a:t>
            </a:r>
            <a:r>
              <a:rPr lang="en-US" altLang="en-IN" sz="1800" b="1">
                <a:solidFill>
                  <a:srgbClr val="0F0F0F"/>
                </a:solidFill>
                <a:ea typeface="+mn-lt"/>
                <a:cs typeface="+mn-lt"/>
              </a:rPr>
              <a:t>:</a:t>
            </a:r>
            <a:endParaRPr lang="en-IN" sz="1800" b="1">
              <a:solidFill>
                <a:srgbClr val="0F0F0F"/>
              </a:solidFill>
              <a:ea typeface="+mn-lt"/>
              <a:cs typeface="+mn-lt"/>
            </a:endParaRPr>
          </a:p>
          <a:p>
            <a:pPr marL="0" indent="0">
              <a:buNone/>
            </a:pPr>
            <a:r>
              <a:rPr lang="en-IN" sz="1800" b="1">
                <a:solidFill>
                  <a:srgbClr val="0F0F0F"/>
                </a:solidFill>
                <a:ea typeface="+mn-lt"/>
                <a:cs typeface="+mn-lt"/>
              </a:rPr>
              <a:t>1.Hardware:</a:t>
            </a:r>
            <a:endParaRPr lang="en-IN" sz="1800" b="1">
              <a:solidFill>
                <a:srgbClr val="0F0F0F"/>
              </a:solidFill>
              <a:ea typeface="+mn-lt"/>
              <a:cs typeface="+mn-lt"/>
            </a:endParaRPr>
          </a:p>
          <a:p>
            <a:pPr marL="0" indent="0">
              <a:buNone/>
            </a:pPr>
            <a:r>
              <a:rPr lang="en-IN" sz="1800">
                <a:solidFill>
                  <a:srgbClr val="0F0F0F"/>
                </a:solidFill>
                <a:ea typeface="+mn-lt"/>
                <a:cs typeface="+mn-lt"/>
              </a:rPr>
              <a:t>-A computer with sufficient processing power, and A multi-core processor is recommended to handle computations</a:t>
            </a:r>
            <a:endParaRPr lang="en-IN" sz="1800">
              <a:solidFill>
                <a:srgbClr val="0F0F0F"/>
              </a:solidFill>
              <a:ea typeface="+mn-lt"/>
              <a:cs typeface="+mn-lt"/>
            </a:endParaRPr>
          </a:p>
          <a:p>
            <a:pPr marL="0" indent="0">
              <a:buNone/>
            </a:pPr>
            <a:r>
              <a:rPr lang="en-IN" sz="1800">
                <a:solidFill>
                  <a:srgbClr val="0F0F0F"/>
                </a:solidFill>
                <a:ea typeface="+mn-lt"/>
                <a:cs typeface="+mn-lt"/>
              </a:rPr>
              <a:t>efficiently, especially for large datasets. -Adequate RAM to handle the size of the dataset and computational requirements.</a:t>
            </a:r>
            <a:endParaRPr lang="en-IN" sz="1800">
              <a:solidFill>
                <a:srgbClr val="0F0F0F"/>
              </a:solidFill>
              <a:ea typeface="+mn-lt"/>
              <a:cs typeface="+mn-lt"/>
            </a:endParaRPr>
          </a:p>
          <a:p>
            <a:pPr marL="0" indent="0">
              <a:buNone/>
            </a:pPr>
            <a:r>
              <a:rPr lang="en-IN" sz="1800" b="1">
                <a:solidFill>
                  <a:srgbClr val="0F0F0F"/>
                </a:solidFill>
                <a:ea typeface="+mn-lt"/>
                <a:cs typeface="+mn-lt"/>
              </a:rPr>
              <a:t>2.software:</a:t>
            </a:r>
            <a:endParaRPr lang="en-IN" sz="1800" b="1">
              <a:solidFill>
                <a:srgbClr val="0F0F0F"/>
              </a:solidFill>
              <a:ea typeface="+mn-lt"/>
              <a:cs typeface="+mn-lt"/>
            </a:endParaRPr>
          </a:p>
          <a:p>
            <a:pPr marL="0" indent="0">
              <a:buNone/>
            </a:pPr>
            <a:r>
              <a:rPr lang="en-IN" sz="1800">
                <a:solidFill>
                  <a:srgbClr val="0F0F0F"/>
                </a:solidFill>
                <a:ea typeface="+mn-lt"/>
                <a:cs typeface="+mn-lt"/>
              </a:rPr>
              <a:t>The choice of operating system is flexible, as Python and necessary libraries are available on major platforms</a:t>
            </a:r>
            <a:endParaRPr lang="en-IN" sz="1800">
              <a:solidFill>
                <a:srgbClr val="0F0F0F"/>
              </a:solidFill>
              <a:ea typeface="+mn-lt"/>
              <a:cs typeface="+mn-lt"/>
            </a:endParaRPr>
          </a:p>
          <a:p>
            <a:pPr marL="0" indent="0">
              <a:buNone/>
            </a:pPr>
            <a:r>
              <a:rPr lang="en-IN" sz="1800">
                <a:solidFill>
                  <a:srgbClr val="0F0F0F"/>
                </a:solidFill>
                <a:ea typeface="+mn-lt"/>
                <a:cs typeface="+mn-lt"/>
              </a:rPr>
              <a:t>including Windows, macOS, and Linux</a:t>
            </a:r>
            <a:endParaRPr lang="en-IN" sz="1800">
              <a:solidFill>
                <a:srgbClr val="0F0F0F"/>
              </a:solidFill>
              <a:ea typeface="+mn-lt"/>
              <a:cs typeface="+mn-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21615" y="730250"/>
            <a:ext cx="6096000" cy="645160"/>
          </a:xfrm>
          <a:prstGeom prst="rect">
            <a:avLst/>
          </a:prstGeom>
          <a:noFill/>
        </p:spPr>
        <p:txBody>
          <a:bodyPr wrap="square" rtlCol="0" anchor="t">
            <a:spAutoFit/>
          </a:bodyPr>
          <a:p>
            <a:r>
              <a:rPr lang="en-US" sz="3600" b="1">
                <a:solidFill>
                  <a:schemeClr val="accent1"/>
                </a:solidFill>
                <a:latin typeface="Arial" panose="020B0604020202020204"/>
                <a:ea typeface="+mj-lt"/>
                <a:cs typeface="Arial" panose="020B0604020202020204"/>
                <a:sym typeface="+mn-ea"/>
              </a:rPr>
              <a:t>System  Approach-CONT-</a:t>
            </a:r>
            <a:endParaRPr lang="en-US" sz="3600" b="1">
              <a:solidFill>
                <a:schemeClr val="accent1"/>
              </a:solidFill>
              <a:latin typeface="Arial" panose="020B0604020202020204"/>
              <a:ea typeface="+mj-lt"/>
              <a:cs typeface="Arial" panose="020B0604020202020204"/>
              <a:sym typeface="+mn-ea"/>
            </a:endParaRPr>
          </a:p>
        </p:txBody>
      </p:sp>
      <p:sp>
        <p:nvSpPr>
          <p:cNvPr id="5" name="Text Box 4"/>
          <p:cNvSpPr txBox="1"/>
          <p:nvPr/>
        </p:nvSpPr>
        <p:spPr>
          <a:xfrm>
            <a:off x="221615" y="1586230"/>
            <a:ext cx="4514850" cy="502285"/>
          </a:xfrm>
          <a:prstGeom prst="rect">
            <a:avLst/>
          </a:prstGeom>
          <a:noFill/>
        </p:spPr>
        <p:txBody>
          <a:bodyPr wrap="square" rtlCol="0" anchor="t">
            <a:noAutofit/>
          </a:bodyPr>
          <a:p>
            <a:pPr marL="0" indent="0">
              <a:buNone/>
            </a:pPr>
            <a:r>
              <a:rPr lang="en-IN" sz="2800" b="1">
                <a:solidFill>
                  <a:srgbClr val="0F0F0F"/>
                </a:solidFill>
                <a:ea typeface="+mn-lt"/>
                <a:cs typeface="+mn-lt"/>
                <a:sym typeface="+mn-ea"/>
              </a:rPr>
              <a:t>library requirements:</a:t>
            </a:r>
            <a:endParaRPr lang="en-IN" sz="2800" b="1">
              <a:solidFill>
                <a:srgbClr val="0F0F0F"/>
              </a:solidFill>
              <a:ea typeface="+mn-lt"/>
              <a:cs typeface="+mn-lt"/>
              <a:sym typeface="+mn-ea"/>
            </a:endParaRPr>
          </a:p>
          <a:p>
            <a:pPr marL="0" indent="0">
              <a:buNone/>
            </a:pPr>
            <a:endParaRPr lang="en-IN" sz="2800" b="1">
              <a:solidFill>
                <a:srgbClr val="0F0F0F"/>
              </a:solidFill>
              <a:ea typeface="+mn-lt"/>
              <a:cs typeface="+mn-lt"/>
              <a:sym typeface="+mn-ea"/>
            </a:endParaRPr>
          </a:p>
          <a:p>
            <a:pPr marL="0" indent="0">
              <a:buNone/>
            </a:pPr>
            <a:r>
              <a:rPr lang="en-US" altLang="en-IN" sz="2400">
                <a:solidFill>
                  <a:srgbClr val="0F0F0F"/>
                </a:solidFill>
                <a:ea typeface="+mn-lt"/>
                <a:cs typeface="+mn-lt"/>
                <a:sym typeface="+mn-ea"/>
              </a:rPr>
              <a:t>-</a:t>
            </a:r>
            <a:r>
              <a:rPr lang="en-IN" sz="2400">
                <a:solidFill>
                  <a:srgbClr val="0F0F0F"/>
                </a:solidFill>
                <a:ea typeface="+mn-lt"/>
                <a:cs typeface="+mn-lt"/>
                <a:sym typeface="+mn-ea"/>
              </a:rPr>
              <a:t>nltk</a:t>
            </a:r>
            <a:endParaRPr lang="en-IN" sz="2400">
              <a:solidFill>
                <a:srgbClr val="0F0F0F"/>
              </a:solidFill>
              <a:ea typeface="+mn-lt"/>
              <a:cs typeface="+mn-lt"/>
              <a:sym typeface="+mn-ea"/>
            </a:endParaRPr>
          </a:p>
          <a:p>
            <a:pPr marL="0" indent="0">
              <a:buNone/>
            </a:pPr>
            <a:r>
              <a:rPr lang="en-US" altLang="en-IN" sz="2400">
                <a:solidFill>
                  <a:srgbClr val="0F0F0F"/>
                </a:solidFill>
                <a:ea typeface="+mn-lt"/>
                <a:cs typeface="+mn-lt"/>
                <a:sym typeface="+mn-ea"/>
              </a:rPr>
              <a:t>-seaborn</a:t>
            </a:r>
            <a:endParaRPr lang="en-US" altLang="en-IN" sz="2400">
              <a:solidFill>
                <a:srgbClr val="0F0F0F"/>
              </a:solidFill>
              <a:ea typeface="+mn-lt"/>
              <a:cs typeface="+mn-lt"/>
              <a:sym typeface="+mn-ea"/>
            </a:endParaRPr>
          </a:p>
          <a:p>
            <a:pPr marL="0" indent="0">
              <a:buNone/>
            </a:pPr>
            <a:r>
              <a:rPr lang="en-US" altLang="en-IN" sz="2400">
                <a:solidFill>
                  <a:srgbClr val="0F0F0F"/>
                </a:solidFill>
                <a:ea typeface="+mn-lt"/>
                <a:cs typeface="+mn-lt"/>
                <a:sym typeface="+mn-ea"/>
              </a:rPr>
              <a:t>-pandas</a:t>
            </a:r>
            <a:endParaRPr lang="en-US" altLang="en-IN" sz="2400">
              <a:solidFill>
                <a:srgbClr val="0F0F0F"/>
              </a:solidFill>
              <a:ea typeface="+mn-lt"/>
              <a:cs typeface="+mn-lt"/>
              <a:sym typeface="+mn-ea"/>
            </a:endParaRPr>
          </a:p>
          <a:p>
            <a:pPr marL="0" indent="0">
              <a:buNone/>
            </a:pPr>
            <a:r>
              <a:rPr lang="en-US" altLang="en-IN" sz="2400">
                <a:solidFill>
                  <a:srgbClr val="0F0F0F"/>
                </a:solidFill>
                <a:ea typeface="+mn-lt"/>
                <a:cs typeface="+mn-lt"/>
                <a:sym typeface="+mn-ea"/>
              </a:rPr>
              <a:t>-matplotlib</a:t>
            </a:r>
            <a:endParaRPr lang="en-US" altLang="en-IN" sz="2400">
              <a:solidFill>
                <a:srgbClr val="0F0F0F"/>
              </a:solidFill>
              <a:ea typeface="+mn-lt"/>
              <a:cs typeface="+mn-lt"/>
              <a:sym typeface="+mn-ea"/>
            </a:endParaRPr>
          </a:p>
          <a:p>
            <a:pPr marL="0" indent="0">
              <a:buNone/>
            </a:pPr>
            <a:r>
              <a:rPr lang="en-US" altLang="en-IN" sz="2400">
                <a:solidFill>
                  <a:srgbClr val="0F0F0F"/>
                </a:solidFill>
                <a:ea typeface="+mn-lt"/>
                <a:cs typeface="+mn-lt"/>
                <a:sym typeface="+mn-ea"/>
              </a:rPr>
              <a:t>-Scikit-learn.</a:t>
            </a:r>
            <a:endParaRPr lang="en-US" altLang="en-IN" sz="2400">
              <a:solidFill>
                <a:srgbClr val="0F0F0F"/>
              </a:solidFill>
              <a:ea typeface="+mn-lt"/>
              <a:cs typeface="+mn-lt"/>
              <a:sym typeface="+mn-ea"/>
            </a:endParaRPr>
          </a:p>
          <a:p>
            <a:pPr marL="0" indent="0">
              <a:buNone/>
            </a:pPr>
            <a:endParaRPr lang="en-IN" sz="2400">
              <a:solidFill>
                <a:srgbClr val="0F0F0F"/>
              </a:solidFill>
              <a:ea typeface="+mn-lt"/>
              <a:cs typeface="+mn-lt"/>
              <a:sym typeface="+mn-e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Algorithm &amp; Deployment</a:t>
            </a:r>
            <a:endParaRPr lang="en-US"/>
          </a:p>
        </p:txBody>
      </p:sp>
      <p:sp>
        <p:nvSpPr>
          <p:cNvPr id="2" name="Content Placeholder 1"/>
          <p:cNvSpPr>
            <a:spLocks noGrp="1"/>
          </p:cNvSpPr>
          <p:nvPr>
            <p:ph idx="1"/>
          </p:nvPr>
        </p:nvSpPr>
        <p:spPr/>
        <p:txBody>
          <a:bodyPr/>
          <a:lstStyle/>
          <a:p>
            <a:pPr marL="0" indent="0">
              <a:buNone/>
            </a:pPr>
            <a:r>
              <a:rPr lang="en-IN" sz="1400" dirty="0">
                <a:ea typeface="+mn-lt"/>
                <a:cs typeface="+mn-lt"/>
              </a:rPr>
              <a:t>In the Algorithm section, describe the machine learning algorithm chosen for </a:t>
            </a:r>
            <a:r>
              <a:rPr lang="en-US" altLang="en-IN" sz="1400" dirty="0">
                <a:ea typeface="+mn-lt"/>
                <a:cs typeface="+mn-lt"/>
              </a:rPr>
              <a:t>analysis reviews as positive or negative</a:t>
            </a:r>
            <a:r>
              <a:rPr lang="en-IN" sz="1400" dirty="0">
                <a:ea typeface="+mn-lt"/>
                <a:cs typeface="+mn-lt"/>
              </a:rPr>
              <a:t>. Here's an example structure for this section:</a:t>
            </a:r>
            <a:endParaRPr lang="en-IN" sz="1400" dirty="0"/>
          </a:p>
          <a:p>
            <a:pPr marL="305435" indent="-305435"/>
            <a:r>
              <a:rPr lang="en-IN" sz="1400" b="1" dirty="0">
                <a:ea typeface="+mn-lt"/>
                <a:cs typeface="+mn-lt"/>
              </a:rPr>
              <a:t>Algorithm Selection:</a:t>
            </a:r>
            <a:endParaRPr lang="en-IN" sz="1400" dirty="0"/>
          </a:p>
          <a:p>
            <a:pPr marL="629920" lvl="1" indent="-305435"/>
            <a:r>
              <a:rPr dirty="0">
                <a:ea typeface="+mn-lt"/>
                <a:cs typeface="+mn-lt"/>
              </a:rPr>
              <a:t>Naive Bayes classifiers are selected due to their effectiveness in text classification tasks like sentiment analysis. They leverage Bayes' theorem with an assumption of independence between features (words in this case), making them computationally efficient and straightforward to implement.</a:t>
            </a:r>
            <a:r>
              <a:rPr lang="en-US" altLang="en-IN" dirty="0">
                <a:ea typeface="+mn-lt"/>
                <a:cs typeface="+mn-lt"/>
              </a:rPr>
              <a:t>.</a:t>
            </a:r>
            <a:endParaRPr lang="en-IN" dirty="0"/>
          </a:p>
          <a:p>
            <a:pPr marL="305435" indent="-305435"/>
            <a:r>
              <a:rPr lang="en-US" altLang="en-IN" sz="1400" b="1" dirty="0">
                <a:ea typeface="+mn-lt"/>
                <a:cs typeface="+mn-lt"/>
              </a:rPr>
              <a:t>Pre Processing</a:t>
            </a:r>
            <a:r>
              <a:rPr lang="en-IN" sz="1400" b="1" dirty="0">
                <a:ea typeface="+mn-lt"/>
                <a:cs typeface="+mn-lt"/>
              </a:rPr>
              <a:t>:</a:t>
            </a:r>
            <a:endParaRPr lang="en-IN" sz="1400" dirty="0"/>
          </a:p>
          <a:p>
            <a:pPr marL="629920" lvl="1" indent="-305435"/>
            <a:r>
              <a:rPr lang="en-IN" dirty="0">
                <a:ea typeface="+mn-lt"/>
                <a:cs typeface="+mn-lt"/>
              </a:rPr>
              <a:t>Clean and preprocess the reviews.csv dataset by removing stopwords, punctuation, and performing tokenization</a:t>
            </a:r>
            <a:r>
              <a:rPr lang="en-US" altLang="en-IN" dirty="0">
                <a:ea typeface="+mn-lt"/>
                <a:cs typeface="+mn-lt"/>
              </a:rPr>
              <a:t>,stemming and lematization</a:t>
            </a:r>
            <a:r>
              <a:rPr lang="en-IN" dirty="0">
                <a:ea typeface="+mn-lt"/>
                <a:cs typeface="+mn-lt"/>
              </a:rPr>
              <a:t>.</a:t>
            </a:r>
            <a:endParaRPr lang="en-IN" dirty="0"/>
          </a:p>
          <a:p>
            <a:pPr marL="305435" indent="-305435"/>
            <a:r>
              <a:rPr lang="en-IN" sz="1400" b="1" dirty="0">
                <a:ea typeface="+mn-lt"/>
                <a:cs typeface="+mn-lt"/>
              </a:rPr>
              <a:t>Training Process:</a:t>
            </a:r>
            <a:endParaRPr lang="en-IN" sz="1400" dirty="0"/>
          </a:p>
          <a:p>
            <a:pPr marL="629920" lvl="1" indent="-305435"/>
            <a:r>
              <a:rPr dirty="0">
                <a:ea typeface="+mn-lt"/>
                <a:cs typeface="+mn-lt"/>
              </a:rPr>
              <a:t>Train the Naive Bayes classifier on a labeled dataset consisting of reviews (Review column) and corresponding sentiment labels (Liked column)</a:t>
            </a:r>
            <a:r>
              <a:rPr lang="en-IN" dirty="0">
                <a:ea typeface="+mn-lt"/>
                <a:cs typeface="+mn-lt"/>
              </a:rPr>
              <a:t>.</a:t>
            </a:r>
            <a:endParaRPr lang="en-IN" dirty="0"/>
          </a:p>
          <a:p>
            <a:pPr marL="305435" indent="-305435"/>
            <a:r>
              <a:rPr lang="en-IN" sz="1400" b="1" dirty="0">
                <a:ea typeface="+mn-lt"/>
                <a:cs typeface="+mn-lt"/>
              </a:rPr>
              <a:t>Prediction Process:</a:t>
            </a:r>
            <a:endParaRPr lang="en-IN" sz="1400" dirty="0"/>
          </a:p>
          <a:p>
            <a:pPr marL="629920" lvl="1" indent="-305435"/>
            <a:r>
              <a:rPr lang="en-IN">
                <a:latin typeface="Calibri" panose="020F0502020204030204"/>
                <a:ea typeface="+mn-lt"/>
                <a:cs typeface="+mn-lt"/>
                <a:sym typeface="+mn-ea"/>
              </a:rPr>
              <a:t>Evaluate the classifier using metrics such as accuracy, precision, recall, and F1-score to assess its effectiveness in sentiment classification.</a:t>
            </a:r>
            <a:endParaRPr lang="en-US" altLang="en-IN" dirty="0">
              <a:ea typeface="+mn-lt"/>
              <a:cs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3555" b="1">
                <a:solidFill>
                  <a:schemeClr val="accent1"/>
                </a:solidFill>
                <a:latin typeface="Arial" panose="020B0604020202020204"/>
                <a:ea typeface="+mj-lt"/>
                <a:cs typeface="Arial" panose="020B0604020202020204"/>
              </a:rPr>
              <a:t>Result</a:t>
            </a:r>
            <a:endParaRPr lang="en-US" sz="3555" b="1">
              <a:solidFill>
                <a:schemeClr val="accent1"/>
              </a:solidFill>
              <a:latin typeface="Arial" panose="020B0604020202020204"/>
              <a:ea typeface="+mj-lt"/>
              <a:cs typeface="Arial" panose="020B0604020202020204"/>
            </a:endParaRPr>
          </a:p>
        </p:txBody>
      </p:sp>
      <p:sp>
        <p:nvSpPr>
          <p:cNvPr id="8" name="Text Box 7"/>
          <p:cNvSpPr txBox="1"/>
          <p:nvPr/>
        </p:nvSpPr>
        <p:spPr>
          <a:xfrm>
            <a:off x="6449695" y="3439160"/>
            <a:ext cx="5523865" cy="2244725"/>
          </a:xfrm>
          <a:prstGeom prst="rect">
            <a:avLst/>
          </a:prstGeom>
        </p:spPr>
        <p:txBody>
          <a:bodyPr>
            <a:noAutofit/>
          </a:bodyPr>
          <a:p>
            <a:r>
              <a:rPr sz="1600"/>
              <a:t>The code generates a word cloud visualizing frequent words from restaurant reviews stored in data['Review']. By aggregating all text into combined_text and configuring dimensions and aesthetics (width, height, background_color), it creates a visual summary of prominent themes or sentiments expressed in the reviews, aiding in quick insight into customer feedback trends.</a:t>
            </a:r>
            <a:endParaRPr sz="1600"/>
          </a:p>
        </p:txBody>
      </p:sp>
      <p:pic>
        <p:nvPicPr>
          <p:cNvPr id="7" name="Content Placeholder 6" descr="plot2"/>
          <p:cNvPicPr>
            <a:picLocks noChangeAspect="1"/>
          </p:cNvPicPr>
          <p:nvPr>
            <p:ph sz="half" idx="1"/>
          </p:nvPr>
        </p:nvPicPr>
        <p:blipFill>
          <a:blip r:embed="rId1"/>
          <a:stretch>
            <a:fillRect/>
          </a:stretch>
        </p:blipFill>
        <p:spPr>
          <a:xfrm>
            <a:off x="667385" y="3030220"/>
            <a:ext cx="5503545" cy="3062605"/>
          </a:xfrm>
          <a:prstGeom prst="rect">
            <a:avLst/>
          </a:prstGeom>
        </p:spPr>
      </p:pic>
      <p:pic>
        <p:nvPicPr>
          <p:cNvPr id="9" name="Content Placeholder 8"/>
          <p:cNvPicPr>
            <a:picLocks noChangeAspect="1"/>
          </p:cNvPicPr>
          <p:nvPr>
            <p:ph sz="half" idx="2"/>
            <p:custDataLst>
              <p:tags r:id="rId2"/>
            </p:custDataLst>
          </p:nvPr>
        </p:nvPicPr>
        <p:blipFill>
          <a:blip r:embed="rId3"/>
          <a:srcRect l="14631" t="63551" r="22430" b="16301"/>
          <a:stretch>
            <a:fillRect/>
          </a:stretch>
        </p:blipFill>
        <p:spPr>
          <a:xfrm>
            <a:off x="448310" y="1222375"/>
            <a:ext cx="10184130" cy="15436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6209665" y="2943225"/>
            <a:ext cx="5981700" cy="2534285"/>
          </a:xfrm>
          <a:prstGeom prst="rect">
            <a:avLst/>
          </a:prstGeom>
        </p:spPr>
        <p:txBody>
          <a:bodyPr>
            <a:noAutofit/>
          </a:bodyPr>
          <a:p>
            <a:r>
              <a:rPr sz="1600"/>
              <a:t>The provided code visualizes the distribution of sentiment labels ('Liked' column) using a bar plot. It assigns colors ('yellow' for positive and 'blue' for negative) to distinguish between sentiment categories. The plot includes clear labels and titles ('Sentiment value counts', 'Liked', 'Count') to enhance readability and understanding of the sentiment distribution in the dataset.</a:t>
            </a:r>
            <a:endParaRPr sz="1600"/>
          </a:p>
        </p:txBody>
      </p:sp>
      <p:pic>
        <p:nvPicPr>
          <p:cNvPr id="2" name="Picture 1" descr="plot1"/>
          <p:cNvPicPr>
            <a:picLocks noChangeAspect="1"/>
          </p:cNvPicPr>
          <p:nvPr/>
        </p:nvPicPr>
        <p:blipFill>
          <a:blip r:embed="rId1"/>
          <a:stretch>
            <a:fillRect/>
          </a:stretch>
        </p:blipFill>
        <p:spPr>
          <a:xfrm>
            <a:off x="621030" y="2750185"/>
            <a:ext cx="5182870" cy="3876040"/>
          </a:xfrm>
          <a:prstGeom prst="rect">
            <a:avLst/>
          </a:prstGeom>
        </p:spPr>
      </p:pic>
      <p:pic>
        <p:nvPicPr>
          <p:cNvPr id="3" name="Picture 2"/>
          <p:cNvPicPr>
            <a:picLocks noChangeAspect="1"/>
          </p:cNvPicPr>
          <p:nvPr>
            <p:custDataLst>
              <p:tags r:id="rId2"/>
            </p:custDataLst>
          </p:nvPr>
        </p:nvPicPr>
        <p:blipFill>
          <a:blip r:embed="rId3"/>
          <a:srcRect l="13694" t="52832" r="15169" b="34113"/>
          <a:stretch>
            <a:fillRect/>
          </a:stretch>
        </p:blipFill>
        <p:spPr>
          <a:xfrm>
            <a:off x="621030" y="806450"/>
            <a:ext cx="10891520" cy="1701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6095365" y="2962275"/>
            <a:ext cx="6022340" cy="2287905"/>
          </a:xfrm>
          <a:prstGeom prst="rect">
            <a:avLst/>
          </a:prstGeom>
        </p:spPr>
        <p:txBody>
          <a:bodyPr>
            <a:noAutofit/>
          </a:bodyPr>
          <a:p>
            <a:r>
              <a:rPr sz="1600"/>
              <a:t>Th</a:t>
            </a:r>
            <a:r>
              <a:rPr lang="en-US" sz="1600"/>
              <a:t>is</a:t>
            </a:r>
            <a:r>
              <a:rPr sz="1600"/>
              <a:t> code analyzes the frequency of specific words ('food', 'place', 'restaurant') within restaurant reviews from the dataset. It utilizes Python's Counter from the collections module to count occurrences of all words after converting them to lowercase and splitting them into a list. The resulting bar plot visualizes the frequency of each target word, helping to understand their prominence and relevance in customer reviews of the restaurant, providing insights into common topics or aspects mentioned.</a:t>
            </a:r>
            <a:endParaRPr sz="1600"/>
          </a:p>
        </p:txBody>
      </p:sp>
      <p:pic>
        <p:nvPicPr>
          <p:cNvPr id="9" name="Picture 8" descr="plot4"/>
          <p:cNvPicPr>
            <a:picLocks noChangeAspect="1"/>
          </p:cNvPicPr>
          <p:nvPr/>
        </p:nvPicPr>
        <p:blipFill>
          <a:blip r:embed="rId1"/>
          <a:stretch>
            <a:fillRect/>
          </a:stretch>
        </p:blipFill>
        <p:spPr>
          <a:xfrm>
            <a:off x="803910" y="2788920"/>
            <a:ext cx="5185410" cy="3907790"/>
          </a:xfrm>
          <a:prstGeom prst="rect">
            <a:avLst/>
          </a:prstGeom>
        </p:spPr>
      </p:pic>
      <p:pic>
        <p:nvPicPr>
          <p:cNvPr id="10" name="Picture 9"/>
          <p:cNvPicPr>
            <a:picLocks noChangeAspect="1"/>
          </p:cNvPicPr>
          <p:nvPr>
            <p:custDataLst>
              <p:tags r:id="rId2"/>
            </p:custDataLst>
          </p:nvPr>
        </p:nvPicPr>
        <p:blipFill>
          <a:blip r:embed="rId3"/>
          <a:srcRect l="14384" t="31520" r="18356" b="45208"/>
          <a:stretch>
            <a:fillRect/>
          </a:stretch>
        </p:blipFill>
        <p:spPr>
          <a:xfrm>
            <a:off x="803910" y="779145"/>
            <a:ext cx="9483090" cy="191516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Text Box 5"/>
          <p:cNvSpPr txBox="1"/>
          <p:nvPr/>
        </p:nvSpPr>
        <p:spPr>
          <a:xfrm>
            <a:off x="5706745" y="3253105"/>
            <a:ext cx="6323330" cy="2747010"/>
          </a:xfrm>
          <a:prstGeom prst="rect">
            <a:avLst/>
          </a:prstGeom>
        </p:spPr>
        <p:txBody>
          <a:bodyPr wrap="square">
            <a:noAutofit/>
          </a:bodyPr>
          <a:p>
            <a:endParaRPr sz="1600"/>
          </a:p>
          <a:p>
            <a:r>
              <a:rPr sz="1600"/>
              <a:t>Th</a:t>
            </a:r>
            <a:r>
              <a:rPr lang="en-US" sz="1600"/>
              <a:t>is code </a:t>
            </a:r>
            <a:r>
              <a:rPr sz="1600"/>
              <a:t>calculates and visualizes the distribution of review lengths in the dataset. It adds a new column Review_Length to data, capturing the number of words in each review using a lambda function and split() method. The resulting histogram plot, created with seaborn (sns), displays the distribution of review lengths across 20 bins, including a kernel density estimate (KDE), providing insights into the typical length and variation of reviews about the restaurant.</a:t>
            </a:r>
            <a:endParaRPr sz="1600"/>
          </a:p>
        </p:txBody>
      </p:sp>
      <p:pic>
        <p:nvPicPr>
          <p:cNvPr id="2" name="Picture 1" descr="plot3"/>
          <p:cNvPicPr>
            <a:picLocks noChangeAspect="1"/>
          </p:cNvPicPr>
          <p:nvPr/>
        </p:nvPicPr>
        <p:blipFill>
          <a:blip r:embed="rId1"/>
          <a:stretch>
            <a:fillRect/>
          </a:stretch>
        </p:blipFill>
        <p:spPr>
          <a:xfrm>
            <a:off x="751840" y="3028315"/>
            <a:ext cx="4706620" cy="3690620"/>
          </a:xfrm>
          <a:prstGeom prst="rect">
            <a:avLst/>
          </a:prstGeom>
        </p:spPr>
      </p:pic>
      <p:pic>
        <p:nvPicPr>
          <p:cNvPr id="3" name="Picture 2"/>
          <p:cNvPicPr>
            <a:picLocks noChangeAspect="1"/>
          </p:cNvPicPr>
          <p:nvPr>
            <p:custDataLst>
              <p:tags r:id="rId2"/>
            </p:custDataLst>
          </p:nvPr>
        </p:nvPicPr>
        <p:blipFill>
          <a:blip r:embed="rId3"/>
          <a:srcRect l="15248" t="37346" r="19685" b="43634"/>
          <a:stretch>
            <a:fillRect/>
          </a:stretch>
        </p:blipFill>
        <p:spPr>
          <a:xfrm>
            <a:off x="489585" y="718820"/>
            <a:ext cx="8901430" cy="188277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plot5"/>
          <p:cNvPicPr>
            <a:picLocks noChangeAspect="1"/>
          </p:cNvPicPr>
          <p:nvPr/>
        </p:nvPicPr>
        <p:blipFill>
          <a:blip r:embed="rId1"/>
          <a:stretch>
            <a:fillRect/>
          </a:stretch>
        </p:blipFill>
        <p:spPr>
          <a:xfrm>
            <a:off x="442595" y="2731770"/>
            <a:ext cx="5274945" cy="4037330"/>
          </a:xfrm>
          <a:prstGeom prst="rect">
            <a:avLst/>
          </a:prstGeom>
        </p:spPr>
      </p:pic>
      <p:pic>
        <p:nvPicPr>
          <p:cNvPr id="5" name="Picture 4"/>
          <p:cNvPicPr>
            <a:picLocks noChangeAspect="1"/>
          </p:cNvPicPr>
          <p:nvPr>
            <p:custDataLst>
              <p:tags r:id="rId2"/>
            </p:custDataLst>
          </p:nvPr>
        </p:nvPicPr>
        <p:blipFill>
          <a:blip r:embed="rId3"/>
          <a:srcRect l="14943" t="45949" r="20749" b="37809"/>
          <a:stretch>
            <a:fillRect/>
          </a:stretch>
        </p:blipFill>
        <p:spPr>
          <a:xfrm>
            <a:off x="673735" y="751840"/>
            <a:ext cx="9001760" cy="1915160"/>
          </a:xfrm>
          <a:prstGeom prst="rect">
            <a:avLst/>
          </a:prstGeom>
        </p:spPr>
      </p:pic>
      <p:sp>
        <p:nvSpPr>
          <p:cNvPr id="6" name="Text Box 5"/>
          <p:cNvSpPr txBox="1"/>
          <p:nvPr/>
        </p:nvSpPr>
        <p:spPr>
          <a:xfrm>
            <a:off x="6096000" y="3175000"/>
            <a:ext cx="5922010" cy="2061210"/>
          </a:xfrm>
          <a:prstGeom prst="rect">
            <a:avLst/>
          </a:prstGeom>
        </p:spPr>
        <p:txBody>
          <a:bodyPr wrap="square">
            <a:spAutoFit/>
          </a:bodyPr>
          <a:p>
            <a:r>
              <a:rPr sz="1600"/>
              <a:t>The code generates a heatmap to visualize the correlation matrix (corr_matrix) of numerical variables in the data dataframe. Using the sns.heatmap() function with annotations (annot=True), it provides a quick overview of the strength and direction of correlations between features, aiding in understanding relationships such as those between review sentiment ('Liked') and other numeric attributes like review length.</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Conclusion</a:t>
            </a:r>
            <a:endParaRPr lang="en-US"/>
          </a:p>
        </p:txBody>
      </p:sp>
      <p:sp>
        <p:nvSpPr>
          <p:cNvPr id="2" name="Content Placeholder 1"/>
          <p:cNvSpPr>
            <a:spLocks noGrp="1"/>
          </p:cNvSpPr>
          <p:nvPr>
            <p:ph idx="1"/>
          </p:nvPr>
        </p:nvSpPr>
        <p:spPr/>
        <p:txBody>
          <a:bodyPr>
            <a:normAutofit/>
          </a:bodyPr>
          <a:lstStyle/>
          <a:p>
            <a:pPr marL="305435" indent="-305435"/>
            <a:r>
              <a:rPr lang="en-IN" sz="2000" dirty="0">
                <a:solidFill>
                  <a:srgbClr val="0F0F0F"/>
                </a:solidFill>
                <a:ea typeface="+mn-lt"/>
                <a:cs typeface="+mn-lt"/>
              </a:rPr>
              <a:t>In conclusion, developing a sentiment analysis model for restaurant reviews involves transforming textual feedback into numerical representations, selecting and training a suitable model, evaluating its performance, and deploying it for practical use. This process enables automated analysis of customer sentiment, providing valuable insights to restaurant management for enhancing customer experience and satisfaction.</a:t>
            </a:r>
            <a:endParaRPr lang="en-IN" sz="2000" dirty="0">
              <a:solidFill>
                <a:srgbClr val="0F0F0F"/>
              </a:solidFill>
              <a:ea typeface="+mn-lt"/>
              <a:cs typeface="+mn-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625" y="1673860"/>
            <a:ext cx="11595735" cy="4866640"/>
          </a:xfrm>
        </p:spPr>
        <p:txBody>
          <a:bodyPr>
            <a:noAutofit/>
          </a:bodyPr>
          <a:lstStyle/>
          <a:p>
            <a:pPr marL="0" indent="0">
              <a:buNone/>
            </a:pPr>
            <a:r>
              <a:rPr lang="en-US" sz="1300" b="1" dirty="0">
                <a:ea typeface="+mn-lt"/>
                <a:cs typeface="+mn-lt"/>
              </a:rPr>
              <a:t>Fine-tuning Models:</a:t>
            </a:r>
            <a:r>
              <a:rPr lang="en-US" sz="1300" dirty="0">
                <a:ea typeface="+mn-lt"/>
                <a:cs typeface="+mn-lt"/>
              </a:rPr>
              <a:t> Experiment with advanced pre-trained models like BERT or RoBERTa for improved accuracy.</a:t>
            </a:r>
            <a:endParaRPr lang="en-US" sz="1300" dirty="0">
              <a:ea typeface="+mn-lt"/>
              <a:cs typeface="+mn-lt"/>
            </a:endParaRPr>
          </a:p>
          <a:p>
            <a:pPr marL="0" indent="0">
              <a:buNone/>
            </a:pPr>
            <a:r>
              <a:rPr lang="en-US" sz="1300" b="1" dirty="0">
                <a:ea typeface="+mn-lt"/>
                <a:cs typeface="+mn-lt"/>
              </a:rPr>
              <a:t>Aspect-Based Analysis:</a:t>
            </a:r>
            <a:r>
              <a:rPr lang="en-US" sz="1300" dirty="0">
                <a:ea typeface="+mn-lt"/>
                <a:cs typeface="+mn-lt"/>
              </a:rPr>
              <a:t> Extend the model to identify and analyze specific aspects (e.g., food, service) within reviews.</a:t>
            </a:r>
            <a:endParaRPr lang="en-US" sz="1300" dirty="0">
              <a:ea typeface="+mn-lt"/>
              <a:cs typeface="+mn-lt"/>
            </a:endParaRPr>
          </a:p>
          <a:p>
            <a:pPr marL="0" indent="0">
              <a:buNone/>
            </a:pPr>
            <a:r>
              <a:rPr lang="en-US" sz="1300" b="1" dirty="0">
                <a:ea typeface="+mn-lt"/>
                <a:cs typeface="+mn-lt"/>
              </a:rPr>
              <a:t>Entity Recognition:</a:t>
            </a:r>
            <a:r>
              <a:rPr lang="en-US" sz="1300" dirty="0">
                <a:ea typeface="+mn-lt"/>
                <a:cs typeface="+mn-lt"/>
              </a:rPr>
              <a:t> Integrate named entity recognition (NER) to identify and classify entities mentioned in reviews (e.g., dishes, staff).</a:t>
            </a:r>
            <a:endParaRPr lang="en-US" sz="1300" dirty="0">
              <a:ea typeface="+mn-lt"/>
              <a:cs typeface="+mn-lt"/>
            </a:endParaRPr>
          </a:p>
          <a:p>
            <a:pPr marL="0" indent="0">
              <a:buNone/>
            </a:pPr>
            <a:r>
              <a:rPr lang="en-US" sz="1300" b="1" dirty="0">
                <a:ea typeface="+mn-lt"/>
                <a:cs typeface="+mn-lt"/>
              </a:rPr>
              <a:t>Negation and Context Handling:</a:t>
            </a:r>
            <a:r>
              <a:rPr lang="en-US" sz="1300" dirty="0">
                <a:ea typeface="+mn-lt"/>
                <a:cs typeface="+mn-lt"/>
              </a:rPr>
              <a:t> Improve the model's ability to understand negation and context within reviews.</a:t>
            </a:r>
            <a:endParaRPr lang="en-US" sz="1300" dirty="0">
              <a:ea typeface="+mn-lt"/>
              <a:cs typeface="+mn-lt"/>
            </a:endParaRPr>
          </a:p>
          <a:p>
            <a:pPr marL="0" indent="0">
              <a:buNone/>
            </a:pPr>
            <a:r>
              <a:rPr lang="en-US" sz="1300" b="1" dirty="0">
                <a:ea typeface="+mn-lt"/>
                <a:cs typeface="+mn-lt"/>
              </a:rPr>
              <a:t>Multilingual Support:</a:t>
            </a:r>
            <a:r>
              <a:rPr lang="en-US" sz="1300" dirty="0">
                <a:ea typeface="+mn-lt"/>
                <a:cs typeface="+mn-lt"/>
              </a:rPr>
              <a:t> Develop capabilities to handle reviews in multiple languages.</a:t>
            </a:r>
            <a:endParaRPr lang="en-US" sz="1300" dirty="0">
              <a:ea typeface="+mn-lt"/>
              <a:cs typeface="+mn-lt"/>
            </a:endParaRPr>
          </a:p>
          <a:p>
            <a:pPr marL="0" indent="0">
              <a:buNone/>
            </a:pPr>
            <a:r>
              <a:rPr lang="en-US" sz="1300" b="1" dirty="0">
                <a:ea typeface="+mn-lt"/>
                <a:cs typeface="+mn-lt"/>
              </a:rPr>
              <a:t>Fine-Grained Analysis:</a:t>
            </a:r>
            <a:r>
              <a:rPr lang="en-US" sz="1300" dirty="0">
                <a:ea typeface="+mn-lt"/>
                <a:cs typeface="+mn-lt"/>
              </a:rPr>
              <a:t> Consider more detailed sentiment scales beyond just positive/negative.</a:t>
            </a:r>
            <a:endParaRPr lang="en-US" sz="1300" dirty="0">
              <a:ea typeface="+mn-lt"/>
              <a:cs typeface="+mn-lt"/>
            </a:endParaRPr>
          </a:p>
          <a:p>
            <a:pPr marL="0" indent="0">
              <a:buNone/>
            </a:pPr>
            <a:r>
              <a:rPr lang="en-US" sz="1300" b="1" dirty="0">
                <a:ea typeface="+mn-lt"/>
                <a:cs typeface="+mn-lt"/>
              </a:rPr>
              <a:t>User-Item Interaction:</a:t>
            </a:r>
            <a:r>
              <a:rPr lang="en-US" sz="1300" dirty="0">
                <a:ea typeface="+mn-lt"/>
                <a:cs typeface="+mn-lt"/>
              </a:rPr>
              <a:t> Incorporate user preferences and behavior to personalize sentiment analysis.</a:t>
            </a:r>
            <a:endParaRPr lang="en-US" sz="1300" dirty="0">
              <a:ea typeface="+mn-lt"/>
              <a:cs typeface="+mn-lt"/>
            </a:endParaRPr>
          </a:p>
          <a:p>
            <a:pPr marL="0" indent="0">
              <a:buNone/>
            </a:pPr>
            <a:r>
              <a:rPr lang="en-US" sz="1300" b="1" dirty="0">
                <a:ea typeface="+mn-lt"/>
                <a:cs typeface="+mn-lt"/>
              </a:rPr>
              <a:t>Real-Time Analysis:</a:t>
            </a:r>
            <a:r>
              <a:rPr lang="en-US" sz="1300" dirty="0">
                <a:ea typeface="+mn-lt"/>
                <a:cs typeface="+mn-lt"/>
              </a:rPr>
              <a:t> Enable real-time sentiment analysis for prompt insights and responses.</a:t>
            </a:r>
            <a:endParaRPr lang="en-US" sz="1300" dirty="0">
              <a:ea typeface="+mn-lt"/>
              <a:cs typeface="+mn-lt"/>
            </a:endParaRPr>
          </a:p>
          <a:p>
            <a:pPr marL="0" indent="0">
              <a:buNone/>
            </a:pPr>
            <a:r>
              <a:rPr lang="en-US" sz="1300" b="1" dirty="0">
                <a:ea typeface="+mn-lt"/>
                <a:cs typeface="+mn-lt"/>
              </a:rPr>
              <a:t>Feedback Summarization:</a:t>
            </a:r>
            <a:r>
              <a:rPr lang="en-US" sz="1300" dirty="0">
                <a:ea typeface="+mn-lt"/>
                <a:cs typeface="+mn-lt"/>
              </a:rPr>
              <a:t> Develop techniques to summarize large volumes of reviews for actionable insights.</a:t>
            </a:r>
            <a:endParaRPr lang="en-US" sz="1300" dirty="0">
              <a:ea typeface="+mn-lt"/>
              <a:cs typeface="+mn-lt"/>
            </a:endParaRPr>
          </a:p>
          <a:p>
            <a:pPr marL="0" indent="0">
              <a:buNone/>
            </a:pPr>
            <a:r>
              <a:rPr lang="en-US" sz="1300" b="1" dirty="0">
                <a:ea typeface="+mn-lt"/>
                <a:cs typeface="+mn-lt"/>
              </a:rPr>
              <a:t>Business Metrics Integration:</a:t>
            </a:r>
            <a:r>
              <a:rPr lang="en-US" sz="1300" dirty="0">
                <a:ea typeface="+mn-lt"/>
                <a:cs typeface="+mn-lt"/>
              </a:rPr>
              <a:t> Link sentiment analysis results with business metrics for comprehensive insights.</a:t>
            </a:r>
            <a:endParaRPr lang="en-US" sz="1300" dirty="0">
              <a:ea typeface="+mn-lt"/>
              <a:cs typeface="+mn-lt"/>
            </a:endParaRPr>
          </a:p>
          <a:p>
            <a:pPr marL="0" indent="0">
              <a:buNone/>
            </a:pPr>
            <a:r>
              <a:rPr lang="en-US" sz="1300" b="1" dirty="0">
                <a:ea typeface="+mn-lt"/>
                <a:cs typeface="+mn-lt"/>
              </a:rPr>
              <a:t>Interactive Dashboards:</a:t>
            </a:r>
            <a:r>
              <a:rPr lang="en-US" sz="1300" dirty="0">
                <a:ea typeface="+mn-lt"/>
                <a:cs typeface="+mn-lt"/>
              </a:rPr>
              <a:t> Create user-friendly visualizations and dashboards for easy interpretation of sentiment data.</a:t>
            </a:r>
            <a:endParaRPr lang="en-US" sz="1300" dirty="0">
              <a:ea typeface="+mn-lt"/>
              <a:cs typeface="+mn-lt"/>
            </a:endParaRPr>
          </a:p>
          <a:p>
            <a:pPr marL="0" indent="0">
              <a:buNone/>
            </a:pPr>
            <a:r>
              <a:rPr lang="en-US" sz="1300" b="1" dirty="0">
                <a:ea typeface="+mn-lt"/>
                <a:cs typeface="+mn-lt"/>
              </a:rPr>
              <a:t>Sentiment Transfer Learning:</a:t>
            </a:r>
            <a:r>
              <a:rPr lang="en-US" sz="1300" dirty="0">
                <a:ea typeface="+mn-lt"/>
                <a:cs typeface="+mn-lt"/>
              </a:rPr>
              <a:t> Transfer sentiment knowledge across related domains like hotels or cafes.</a:t>
            </a:r>
            <a:endParaRPr lang="en-US" sz="1300" dirty="0">
              <a:ea typeface="+mn-lt"/>
              <a:cs typeface="+mn-lt"/>
            </a:endParaRPr>
          </a:p>
          <a:p>
            <a:pPr marL="0" indent="0">
              <a:buNone/>
            </a:pPr>
            <a:r>
              <a:rPr lang="en-US" sz="1300" b="1" dirty="0">
                <a:ea typeface="+mn-lt"/>
                <a:cs typeface="+mn-lt"/>
              </a:rPr>
              <a:t>Ethical Considerations</a:t>
            </a:r>
            <a:r>
              <a:rPr lang="en-US" sz="1300" dirty="0">
                <a:ea typeface="+mn-lt"/>
                <a:cs typeface="+mn-lt"/>
              </a:rPr>
              <a:t>: Address ethical implications such as bias detection and fairness in analysis.</a:t>
            </a:r>
            <a:endParaRPr lang="en-US" sz="1300" dirty="0">
              <a:ea typeface="+mn-lt"/>
              <a:cs typeface="+mn-lt"/>
            </a:endParaRPr>
          </a:p>
          <a:p>
            <a:pPr marL="0" indent="0">
              <a:buNone/>
            </a:pPr>
            <a:r>
              <a:rPr sz="1300">
                <a:sym typeface="+mn-ea"/>
              </a:rPr>
              <a:t>These future avenues not only aim to improve the accuracy and granularity of sentiment analysis models but also to broaden their application scope in enhancing customer satisfaction, operational efficiency, and strategic decision-making for restaurants and hospitality businesses.</a:t>
            </a:r>
            <a:endParaRPr sz="1300"/>
          </a:p>
          <a:p>
            <a:pPr marL="0" indent="0">
              <a:buNone/>
            </a:pPr>
            <a:endParaRPr lang="en-US" sz="1300" dirty="0">
              <a:ea typeface="+mn-lt"/>
              <a:cs typeface="+mn-lt"/>
            </a:endParaRPr>
          </a:p>
        </p:txBody>
      </p:sp>
      <p:sp>
        <p:nvSpPr>
          <p:cNvPr id="5" name="Title 4"/>
          <p:cNvSpPr txBox="1"/>
          <p:nvPr/>
        </p:nvSpPr>
        <p:spPr>
          <a:xfrm>
            <a:off x="362585" y="555625"/>
            <a:ext cx="11202670" cy="366395"/>
          </a:xfrm>
          <a:prstGeom prst="rect">
            <a:avLst/>
          </a:prstGeom>
        </p:spPr>
        <p:txBody>
          <a:bodyPr vert="horz" lIns="91440" tIns="45720" rIns="91440" bIns="45720" rtlCol="0" anchor="b">
            <a:normAutofit fontScale="9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2000" b="1" dirty="0">
                <a:solidFill>
                  <a:schemeClr val="accent1"/>
                </a:solidFill>
                <a:latin typeface="Arial" panose="020B0604020202020204"/>
                <a:cs typeface="Arial" panose="020B0604020202020204"/>
              </a:rPr>
              <a:t>Future scope</a:t>
            </a:r>
            <a:endParaRPr lang="en-US" sz="2000" b="1" dirty="0">
              <a:solidFill>
                <a:schemeClr val="accent1"/>
              </a:solidFill>
              <a:latin typeface="Arial" panose="020B0604020202020204"/>
              <a:cs typeface="Arial" panose="020B0604020202020204"/>
            </a:endParaRPr>
          </a:p>
        </p:txBody>
      </p:sp>
      <p:sp>
        <p:nvSpPr>
          <p:cNvPr id="2" name="Text Box 1"/>
          <p:cNvSpPr txBox="1"/>
          <p:nvPr/>
        </p:nvSpPr>
        <p:spPr>
          <a:xfrm>
            <a:off x="427990" y="922020"/>
            <a:ext cx="10867390" cy="655955"/>
          </a:xfrm>
          <a:prstGeom prst="rect">
            <a:avLst/>
          </a:prstGeom>
          <a:noFill/>
        </p:spPr>
        <p:txBody>
          <a:bodyPr wrap="square" rtlCol="0" anchor="t">
            <a:noAutofit/>
          </a:bodyPr>
          <a:p>
            <a:r>
              <a:rPr sz="1400">
                <a:sym typeface="+mn-ea"/>
              </a:rPr>
              <a:t> </a:t>
            </a:r>
            <a:r>
              <a:rPr lang="en-US" sz="1400">
                <a:sym typeface="+mn-ea"/>
              </a:rPr>
              <a:t>T</a:t>
            </a:r>
            <a:r>
              <a:rPr sz="1400">
                <a:sym typeface="+mn-ea"/>
              </a:rPr>
              <a:t>he development of sentiment analysis models for restaurant reviews presents several promising future directions</a:t>
            </a:r>
            <a:r>
              <a:rPr lang="en-US" sz="1400">
                <a:sym typeface="+mn-ea"/>
              </a:rPr>
              <a:t> </a:t>
            </a:r>
            <a:r>
              <a:rPr sz="1400">
                <a:sym typeface="+mn-ea"/>
              </a:rPr>
              <a:t>and</a:t>
            </a:r>
            <a:r>
              <a:rPr lang="en-US" sz="1400">
                <a:sym typeface="+mn-ea"/>
              </a:rPr>
              <a:t> </a:t>
            </a:r>
            <a:r>
              <a:rPr sz="1400">
                <a:sym typeface="+mn-ea"/>
              </a:rPr>
              <a:t>opportunities:</a:t>
            </a:r>
            <a:endParaRPr lang="en-US" sz="140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sz="4400" b="1">
                <a:solidFill>
                  <a:schemeClr val="accent1"/>
                </a:solidFill>
                <a:latin typeface="Arial" panose="020B0604020202020204"/>
                <a:ea typeface="+mj-lt"/>
                <a:cs typeface="Arial" panose="020B0604020202020204"/>
              </a:rPr>
              <a:t>References</a:t>
            </a:r>
            <a:endParaRPr lang="en-US"/>
          </a:p>
        </p:txBody>
      </p:sp>
      <p:sp>
        <p:nvSpPr>
          <p:cNvPr id="2" name="Content Placeholder 1"/>
          <p:cNvSpPr>
            <a:spLocks noGrp="1"/>
          </p:cNvSpPr>
          <p:nvPr>
            <p:ph idx="1"/>
          </p:nvPr>
        </p:nvSpPr>
        <p:spPr/>
        <p:txBody>
          <a:bodyPr>
            <a:normAutofit/>
          </a:bodyPr>
          <a:lstStyle/>
          <a:p>
            <a:pPr marL="0" indent="0">
              <a:buNone/>
            </a:pPr>
            <a:r>
              <a:rPr lang="en-IN" sz="2400" dirty="0">
                <a:solidFill>
                  <a:srgbClr val="0F0F0F"/>
                </a:solidFill>
                <a:ea typeface="+mn-lt"/>
                <a:cs typeface="+mn-lt"/>
              </a:rPr>
              <a:t>References for a sentiment analysis project focusing on restaurant reviews can include</a:t>
            </a:r>
            <a:r>
              <a:rPr lang="en-US" altLang="en-IN" sz="2400" dirty="0">
                <a:solidFill>
                  <a:srgbClr val="0F0F0F"/>
                </a:solidFill>
                <a:ea typeface="+mn-lt"/>
                <a:cs typeface="+mn-lt"/>
              </a:rPr>
              <a:t> online resources, and relevant software documentation. Here are some examples of potential references you could cite:</a:t>
            </a:r>
            <a:endParaRPr lang="en-US" altLang="en-IN" sz="2400" dirty="0">
              <a:solidFill>
                <a:srgbClr val="0F0F0F"/>
              </a:solidFill>
              <a:ea typeface="+mn-lt"/>
              <a:cs typeface="+mn-lt"/>
            </a:endParaRPr>
          </a:p>
          <a:p>
            <a:pPr marL="305435" indent="-305435"/>
            <a:r>
              <a:rPr sz="2400" dirty="0">
                <a:solidFill>
                  <a:srgbClr val="0F0F0F"/>
                </a:solidFill>
                <a:ea typeface="+mn-lt"/>
                <a:cs typeface="+mn-lt"/>
              </a:rPr>
              <a:t>Scikit-learn Documentation: </a:t>
            </a:r>
            <a:r>
              <a:rPr sz="2400" u="sng" dirty="0">
                <a:solidFill>
                  <a:srgbClr val="0F0F0F"/>
                </a:solidFill>
                <a:ea typeface="+mn-lt"/>
                <a:cs typeface="+mn-lt"/>
              </a:rPr>
              <a:t>https://scikit-learn.org/stable/documentation.html</a:t>
            </a:r>
            <a:endParaRPr sz="2400" dirty="0">
              <a:solidFill>
                <a:srgbClr val="0F0F0F"/>
              </a:solidFill>
              <a:ea typeface="+mn-lt"/>
              <a:cs typeface="+mn-lt"/>
            </a:endParaRPr>
          </a:p>
          <a:p>
            <a:pPr marL="305435" indent="-305435"/>
            <a:r>
              <a:rPr sz="2400" dirty="0">
                <a:solidFill>
                  <a:srgbClr val="0F0F0F"/>
                </a:solidFill>
                <a:ea typeface="+mn-lt"/>
                <a:cs typeface="+mn-lt"/>
              </a:rPr>
              <a:t>NLTK (Natural Language Toolkit) Documentation: </a:t>
            </a:r>
            <a:r>
              <a:rPr sz="2400" u="sng" dirty="0">
                <a:solidFill>
                  <a:srgbClr val="0F0F0F"/>
                </a:solidFill>
                <a:ea typeface="+mn-lt"/>
                <a:cs typeface="+mn-lt"/>
              </a:rPr>
              <a:t>https://www.nltk.org/</a:t>
            </a:r>
            <a:endParaRPr sz="2400" u="sng" dirty="0">
              <a:solidFill>
                <a:srgbClr val="0F0F0F"/>
              </a:solidFill>
              <a:ea typeface="+mn-lt"/>
              <a:cs typeface="+mn-lt"/>
            </a:endParaRPr>
          </a:p>
          <a:p>
            <a:pPr marL="305435" indent="-305435"/>
            <a:r>
              <a:rPr sz="2400" dirty="0">
                <a:solidFill>
                  <a:srgbClr val="0F0F0F"/>
                </a:solidFill>
                <a:ea typeface="+mn-lt"/>
                <a:cs typeface="+mn-lt"/>
              </a:rPr>
              <a:t>Kaggle: </a:t>
            </a:r>
            <a:r>
              <a:rPr sz="2400" u="sng" dirty="0">
                <a:solidFill>
                  <a:srgbClr val="0F0F0F"/>
                </a:solidFill>
                <a:ea typeface="+mn-lt"/>
                <a:cs typeface="+mn-lt"/>
              </a:rPr>
              <a:t>https://www.kaggle.com/</a:t>
            </a:r>
            <a:endParaRPr sz="2400" u="sng" dirty="0">
              <a:solidFill>
                <a:srgbClr val="0F0F0F"/>
              </a:solidFill>
              <a:ea typeface="+mn-lt"/>
              <a:cs typeface="+mn-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463041" y="2766218"/>
            <a:ext cx="9298744" cy="1325563"/>
          </a:xfrm>
        </p:spPr>
        <p:txBody>
          <a:bodyPr/>
          <a:lstStyle/>
          <a:p>
            <a:pPr algn="ctr"/>
            <a:r>
              <a:rPr lang="en-US" b="1">
                <a:solidFill>
                  <a:srgbClr val="002060"/>
                </a:solidFill>
                <a:latin typeface="Arial" panose="020B0604020202020204" pitchFamily="34" charset="0"/>
                <a:cs typeface="Arial" panose="020B0604020202020204" pitchFamily="34" charset="0"/>
              </a:rPr>
              <a:t>THANK YOU</a:t>
            </a:r>
            <a:endParaRPr lang="en-US" b="1">
              <a:solidFill>
                <a:srgbClr val="002060"/>
              </a:solidFill>
              <a:latin typeface="Arial" panose="020B0604020202020204" pitchFamily="34" charset="0"/>
              <a:cs typeface="Arial" panose="020B0604020202020204" pitchFamily="34" charset="0"/>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8.xml"/></Relationships>
</file>

<file path=customXml/item1.xml>��
</file>

<file path=customXml/item2.xml>��
</file>

<file path=customXml/item3.xml>��
</file>

<file path=customXml/itemProps6.xml><?xml version="1.0" encoding="utf-8"?>
<ds:datastoreItem xmlns:ds="http://schemas.openxmlformats.org/officeDocument/2006/customXml" ds:itemID="{6E816721-11E4-4989-8472-AB5A7EC20404}">
  <ds:schemaRefs/>
</ds:datastoreItem>
</file>

<file path=customXml/itemProps7.xml><?xml version="1.0" encoding="utf-8"?>
<ds:datastoreItem xmlns:ds="http://schemas.openxmlformats.org/officeDocument/2006/customXml" ds:itemID="{927BD4C1-B6B1-4715-ABF9-E660A51A4EA0}">
  <ds:schemaRefs/>
</ds:datastoreItem>
</file>

<file path=customXml/itemProps8.xml><?xml version="1.0" encoding="utf-8"?>
<ds:datastoreItem xmlns:ds="http://schemas.openxmlformats.org/officeDocument/2006/customXml" ds:itemID="{8D289AE2-D2AE-49D1-AFAC-3A79F6794255}">
  <ds:schemaRefs/>
</ds:datastoreItem>
</file>

<file path=docProps/app.xml><?xml version="1.0" encoding="utf-8"?>
<Properties xmlns="http://schemas.openxmlformats.org/officeDocument/2006/extended-properties" xmlns:vt="http://schemas.openxmlformats.org/officeDocument/2006/docPropsVTypes">
  <Template>Future forward</Template>
  <TotalTime>0</TotalTime>
  <Words>8725</Words>
  <Application>WPS Presentation</Application>
  <PresentationFormat>Widescreen</PresentationFormat>
  <Paragraphs>125</Paragraphs>
  <Slides>16</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16</vt:i4>
      </vt:variant>
    </vt:vector>
  </HeadingPairs>
  <TitlesOfParts>
    <vt:vector size="29" baseType="lpstr">
      <vt:lpstr>Arial</vt:lpstr>
      <vt:lpstr>SimSun</vt:lpstr>
      <vt:lpstr>Wingdings</vt:lpstr>
      <vt:lpstr>Wingdings 2</vt:lpstr>
      <vt:lpstr>Arial</vt:lpstr>
      <vt:lpstr>Calibri</vt:lpstr>
      <vt:lpstr>Calibri Light</vt:lpstr>
      <vt:lpstr>Microsoft YaHei</vt:lpstr>
      <vt:lpstr>Arial Unicode MS</vt:lpstr>
      <vt:lpstr>Franklin Gothic Demi</vt:lpstr>
      <vt:lpstr>Segoe Print</vt:lpstr>
      <vt:lpstr>Franklin Gothic Book</vt:lpstr>
      <vt:lpstr>DividendVTI</vt:lpstr>
      <vt:lpstr>sentiment analysis </vt:lpstr>
      <vt:lpstr>OUTLINE</vt:lpstr>
      <vt:lpstr>Problem Statement</vt:lpstr>
      <vt:lpstr>Proposed Solution</vt:lpstr>
      <vt:lpstr>System  Approach</vt:lpstr>
      <vt:lpstr>PowerPoint 演示文稿</vt:lpstr>
      <vt:lpstr>Algorithm &amp; Deployment</vt:lpstr>
      <vt:lpstr>Result</vt:lpstr>
      <vt:lpstr>PowerPoint 演示文稿</vt:lpstr>
      <vt:lpstr>PowerPoint 演示文稿</vt:lpstr>
      <vt:lpstr>PowerPoint 演示文稿</vt:lpstr>
      <vt:lpstr>PowerPoint 演示文稿</vt:lpstr>
      <vt:lpstr>Conclusion</vt:lpstr>
      <vt:lpstr>PowerPoint 演示文稿</vt:lpstr>
      <vt:lpstr>References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HP</cp:lastModifiedBy>
  <cp:revision>30</cp:revision>
  <dcterms:created xsi:type="dcterms:W3CDTF">2021-05-26T16:50:00Z</dcterms:created>
  <dcterms:modified xsi:type="dcterms:W3CDTF">2024-06-23T15:23:34Z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ICV">
    <vt:lpwstr>5FF97B16CCD04655964861698FC51BF2_13</vt:lpwstr>
  </property>
  <property fmtid="{D5CDD505-2E9C-101B-9397-08002B2CF9AE}" pid="4" name="KSOProductBuildVer">
    <vt:lpwstr>1033-12.2.0.17119</vt:lpwstr>
  </property>
</Properties>
</file>